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470" autoAdjust="0"/>
  </p:normalViewPr>
  <p:slideViewPr>
    <p:cSldViewPr>
      <p:cViewPr>
        <p:scale>
          <a:sx n="66" d="100"/>
          <a:sy n="66" d="100"/>
        </p:scale>
        <p:origin x="-630" y="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901B6-F723-4292-83C2-CB45126CF40C}" type="datetimeFigureOut">
              <a:rPr lang="en-ZA" smtClean="0"/>
              <a:t>2016-08-04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38CE0-2F3E-407B-8C20-54358136DC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0742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Importante: </a:t>
            </a:r>
            <a:r>
              <a:rPr lang="pt-B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Apesar dos fabricantes ainda venderem seus </a:t>
            </a:r>
            <a:r>
              <a:rPr lang="pt-B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chips </a:t>
            </a:r>
            <a:r>
              <a:rPr lang="pt-B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como sendo processadores</a:t>
            </a:r>
          </a:p>
          <a:p>
            <a:r>
              <a:rPr lang="pt-B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RISC ou CISC, não existe praticamente nenhum processador atualmente que</a:t>
            </a:r>
          </a:p>
          <a:p>
            <a:r>
              <a:rPr lang="pt-B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siga estritamente uma das duas filosofias, combinando características das duas</a:t>
            </a:r>
          </a:p>
          <a:p>
            <a:r>
              <a:rPr lang="pt-B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arquiteturas, por questões de desempenho.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38CE0-2F3E-407B-8C20-54358136DC11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9495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2016-08-04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6599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2016-08-04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4372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2016-08-04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9143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2016-08-04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055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2016-08-04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8950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2016-08-04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4795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2016-08-04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2356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2016-08-04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80560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2016-08-04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8380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2016-08-04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3961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2016-08-04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278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DF4D3-DD6D-4FA7-9FC0-6BB917F0C1C9}" type="datetimeFigureOut">
              <a:rPr lang="en-ZA" smtClean="0"/>
              <a:t>2016-08-04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83654"/>
            <a:ext cx="924703" cy="86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67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980728"/>
            <a:ext cx="7772400" cy="1470025"/>
          </a:xfrm>
        </p:spPr>
        <p:txBody>
          <a:bodyPr/>
          <a:lstStyle/>
          <a:p>
            <a:pPr fontAlgn="base"/>
            <a:r>
              <a:rPr lang="en-ZA" b="1" dirty="0" err="1"/>
              <a:t>Processador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2492896"/>
            <a:ext cx="7416824" cy="3744416"/>
          </a:xfrm>
        </p:spPr>
        <p:txBody>
          <a:bodyPr>
            <a:normAutofit fontScale="92500" lnSpcReduction="20000"/>
          </a:bodyPr>
          <a:lstStyle/>
          <a:p>
            <a:r>
              <a:rPr lang="en-ZA" dirty="0" err="1"/>
              <a:t>Objetivos</a:t>
            </a:r>
            <a:endParaRPr lang="en-ZA" dirty="0"/>
          </a:p>
          <a:p>
            <a:r>
              <a:rPr lang="pt-BR" dirty="0"/>
              <a:t>Compreender o funcionamento de um processador e sua comunicação</a:t>
            </a:r>
          </a:p>
          <a:p>
            <a:r>
              <a:rPr lang="pt-BR" dirty="0"/>
              <a:t>com os demais componentes do computador.</a:t>
            </a:r>
          </a:p>
          <a:p>
            <a:r>
              <a:rPr lang="pt-BR" dirty="0"/>
              <a:t>Conhecer os principais aspectos que diferenciam os processadores</a:t>
            </a:r>
          </a:p>
          <a:p>
            <a:r>
              <a:rPr lang="pt-BR" dirty="0"/>
              <a:t>comerciais atuais e os fatores que afetam seu desempenho.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82520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b="1" dirty="0" err="1"/>
              <a:t>Unidade</a:t>
            </a:r>
            <a:r>
              <a:rPr lang="en-ZA" b="1" dirty="0"/>
              <a:t> central de </a:t>
            </a:r>
            <a:r>
              <a:rPr lang="en-ZA" b="1" dirty="0" err="1"/>
              <a:t>processamento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processador, também chamado de Unidade Central de Processamento </a:t>
            </a:r>
            <a:r>
              <a:rPr lang="pt-BR" dirty="0" smtClean="0"/>
              <a:t>ou </a:t>
            </a:r>
            <a:r>
              <a:rPr lang="pt-BR" i="1" dirty="0" smtClean="0"/>
              <a:t>Central </a:t>
            </a:r>
            <a:r>
              <a:rPr lang="pt-BR" i="1" dirty="0"/>
              <a:t>Processing Unit </a:t>
            </a:r>
            <a:r>
              <a:rPr lang="pt-BR" dirty="0"/>
              <a:t>(CPU), é o principal componente de um sistema </a:t>
            </a:r>
            <a:r>
              <a:rPr lang="pt-BR" dirty="0" smtClean="0"/>
              <a:t>computacional, responsável </a:t>
            </a:r>
            <a:r>
              <a:rPr lang="pt-BR" dirty="0"/>
              <a:t>por realizar todas as operações do computador </a:t>
            </a:r>
            <a:r>
              <a:rPr lang="pt-BR" dirty="0" smtClean="0"/>
              <a:t>e </a:t>
            </a:r>
            <a:r>
              <a:rPr lang="en-ZA" dirty="0" err="1" smtClean="0"/>
              <a:t>controlar</a:t>
            </a:r>
            <a:r>
              <a:rPr lang="en-ZA" dirty="0" smtClean="0"/>
              <a:t> </a:t>
            </a:r>
            <a:r>
              <a:rPr lang="en-ZA" dirty="0" err="1"/>
              <a:t>sua</a:t>
            </a:r>
            <a:r>
              <a:rPr lang="en-ZA" dirty="0"/>
              <a:t> </a:t>
            </a:r>
            <a:r>
              <a:rPr lang="en-ZA" dirty="0" err="1"/>
              <a:t>execução</a:t>
            </a:r>
            <a:r>
              <a:rPr lang="en-ZA" dirty="0"/>
              <a:t>.</a:t>
            </a:r>
          </a:p>
          <a:p>
            <a:r>
              <a:rPr lang="pt-BR" b="1" i="1" dirty="0"/>
              <a:t>O processador é capaz de realizar algumas operações </a:t>
            </a:r>
            <a:r>
              <a:rPr lang="pt-BR" b="1" i="1" dirty="0" smtClean="0"/>
              <a:t>primitivas:</a:t>
            </a:r>
            <a:endParaRPr lang="en-ZA" b="1" i="1" dirty="0"/>
          </a:p>
        </p:txBody>
      </p:sp>
    </p:spTree>
    <p:extLst>
      <p:ext uri="{BB962C8B-B14F-4D97-AF65-F5344CB8AC3E}">
        <p14:creationId xmlns:p14="http://schemas.microsoft.com/office/powerpoint/2010/main" val="227783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/>
          </a:bodyPr>
          <a:lstStyle/>
          <a:p>
            <a:r>
              <a:rPr lang="pt-BR" b="1" dirty="0"/>
              <a:t>a) Operações aritméticas e lógicas </a:t>
            </a:r>
            <a:r>
              <a:rPr lang="pt-BR" dirty="0"/>
              <a:t>– somar, subtrair, multiplicar, dividir </a:t>
            </a:r>
            <a:r>
              <a:rPr lang="pt-BR" dirty="0" smtClean="0"/>
              <a:t>e </a:t>
            </a:r>
            <a:r>
              <a:rPr lang="en-ZA" dirty="0" err="1" smtClean="0"/>
              <a:t>realizar</a:t>
            </a:r>
            <a:r>
              <a:rPr lang="en-ZA" dirty="0" smtClean="0"/>
              <a:t> </a:t>
            </a:r>
            <a:r>
              <a:rPr lang="en-ZA" dirty="0" err="1"/>
              <a:t>comparações</a:t>
            </a:r>
            <a:r>
              <a:rPr lang="en-ZA" dirty="0"/>
              <a:t> de </a:t>
            </a:r>
            <a:r>
              <a:rPr lang="en-ZA" dirty="0" err="1"/>
              <a:t>números</a:t>
            </a:r>
            <a:r>
              <a:rPr lang="en-ZA" dirty="0"/>
              <a:t>.</a:t>
            </a:r>
          </a:p>
          <a:p>
            <a:r>
              <a:rPr lang="pt-BR" b="1" dirty="0"/>
              <a:t>b) Operações de movimentação de dados </a:t>
            </a:r>
            <a:r>
              <a:rPr lang="pt-BR" dirty="0"/>
              <a:t>– mover um dado de um </a:t>
            </a:r>
            <a:r>
              <a:rPr lang="pt-BR" dirty="0" smtClean="0"/>
              <a:t>local </a:t>
            </a:r>
            <a:r>
              <a:rPr lang="en-ZA" dirty="0" smtClean="0"/>
              <a:t>de </a:t>
            </a:r>
            <a:r>
              <a:rPr lang="en-ZA" dirty="0" err="1"/>
              <a:t>armazenamento</a:t>
            </a:r>
            <a:r>
              <a:rPr lang="en-ZA" dirty="0"/>
              <a:t> </a:t>
            </a:r>
            <a:r>
              <a:rPr lang="en-ZA" dirty="0" err="1"/>
              <a:t>para</a:t>
            </a:r>
            <a:r>
              <a:rPr lang="en-ZA" dirty="0"/>
              <a:t> outro.</a:t>
            </a:r>
          </a:p>
          <a:p>
            <a:r>
              <a:rPr lang="pt-BR" b="1" dirty="0"/>
              <a:t>c) Operações de entrada ou saída </a:t>
            </a:r>
            <a:r>
              <a:rPr lang="pt-BR" dirty="0"/>
              <a:t>– transferir um valor para um </a:t>
            </a:r>
            <a:r>
              <a:rPr lang="pt-BR" dirty="0" smtClean="0"/>
              <a:t>dispositivo de </a:t>
            </a:r>
            <a:r>
              <a:rPr lang="pt-BR" dirty="0"/>
              <a:t>saída ou de um dispositivo de entrada para o processador.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4813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/>
          <a:lstStyle/>
          <a:p>
            <a:r>
              <a:rPr lang="pt-BR" dirty="0"/>
              <a:t>O processador é responsável por buscar e executar as instruções existentes </a:t>
            </a:r>
            <a:r>
              <a:rPr lang="pt-BR" dirty="0" smtClean="0"/>
              <a:t>na memória</a:t>
            </a:r>
            <a:r>
              <a:rPr lang="pt-BR" dirty="0"/>
              <a:t>, as quais determinam as operações que o computador deve realizar.</a:t>
            </a:r>
          </a:p>
          <a:p>
            <a:r>
              <a:rPr lang="pt-BR" dirty="0"/>
              <a:t>Essas instruções primitivas são denominadas instruções de máquina e, </a:t>
            </a:r>
            <a:r>
              <a:rPr lang="pt-BR" dirty="0" smtClean="0"/>
              <a:t>quando </a:t>
            </a:r>
            <a:r>
              <a:rPr lang="en-ZA" dirty="0" err="1" smtClean="0"/>
              <a:t>agrupadas</a:t>
            </a:r>
            <a:r>
              <a:rPr lang="en-ZA" dirty="0"/>
              <a:t>, </a:t>
            </a:r>
            <a:r>
              <a:rPr lang="en-ZA" dirty="0" err="1"/>
              <a:t>formam</a:t>
            </a:r>
            <a:r>
              <a:rPr lang="en-ZA" dirty="0"/>
              <a:t> </a:t>
            </a:r>
            <a:r>
              <a:rPr lang="en-ZA" dirty="0" err="1"/>
              <a:t>os</a:t>
            </a:r>
            <a:r>
              <a:rPr lang="en-ZA" dirty="0"/>
              <a:t> </a:t>
            </a:r>
            <a:r>
              <a:rPr lang="en-ZA" dirty="0" err="1"/>
              <a:t>programas</a:t>
            </a:r>
            <a:r>
              <a:rPr lang="en-ZA" dirty="0" smtClean="0"/>
              <a:t>.</a:t>
            </a:r>
          </a:p>
          <a:p>
            <a:r>
              <a:rPr lang="pt-BR" b="1" i="1" dirty="0"/>
              <a:t>O processador realiza constantemente as seguintes </a:t>
            </a:r>
            <a:r>
              <a:rPr lang="pt-BR" b="1" i="1" dirty="0" smtClean="0"/>
              <a:t>operações:</a:t>
            </a:r>
            <a:endParaRPr lang="en-ZA" b="1" i="1" dirty="0"/>
          </a:p>
        </p:txBody>
      </p:sp>
    </p:spTree>
    <p:extLst>
      <p:ext uri="{BB962C8B-B14F-4D97-AF65-F5344CB8AC3E}">
        <p14:creationId xmlns:p14="http://schemas.microsoft.com/office/powerpoint/2010/main" val="124782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/>
              <a:t>a) Buscar instrução </a:t>
            </a:r>
            <a:r>
              <a:rPr lang="pt-BR" dirty="0"/>
              <a:t>– o processador busca na memória a instrução a </a:t>
            </a:r>
            <a:r>
              <a:rPr lang="pt-BR" dirty="0" smtClean="0"/>
              <a:t>ser </a:t>
            </a:r>
            <a:r>
              <a:rPr lang="en-ZA" dirty="0" err="1" smtClean="0"/>
              <a:t>executada</a:t>
            </a:r>
            <a:r>
              <a:rPr lang="en-ZA" dirty="0" smtClean="0"/>
              <a:t>.</a:t>
            </a:r>
          </a:p>
          <a:p>
            <a:r>
              <a:rPr lang="pt-BR" b="1" dirty="0"/>
              <a:t>b) Interpretar a instrução </a:t>
            </a:r>
            <a:r>
              <a:rPr lang="pt-BR" dirty="0"/>
              <a:t>– a instrução é decodificada para determinar </a:t>
            </a:r>
            <a:r>
              <a:rPr lang="pt-BR" dirty="0" smtClean="0"/>
              <a:t>a ação </a:t>
            </a:r>
            <a:r>
              <a:rPr lang="pt-BR" dirty="0"/>
              <a:t>que deve ser executada.</a:t>
            </a:r>
          </a:p>
          <a:p>
            <a:r>
              <a:rPr lang="pt-BR" b="1" dirty="0"/>
              <a:t>c) Obter os dados </a:t>
            </a:r>
            <a:r>
              <a:rPr lang="pt-BR" dirty="0"/>
              <a:t>– a execução da instrução pode necessitar a leitura </a:t>
            </a:r>
            <a:r>
              <a:rPr lang="pt-BR" dirty="0" smtClean="0"/>
              <a:t>de dados </a:t>
            </a:r>
            <a:r>
              <a:rPr lang="pt-BR" dirty="0"/>
              <a:t>da memória ou dos dispositivos de entrada.</a:t>
            </a:r>
          </a:p>
          <a:p>
            <a:r>
              <a:rPr lang="pt-BR" b="1" dirty="0"/>
              <a:t>d) Processar os dados </a:t>
            </a:r>
            <a:r>
              <a:rPr lang="pt-BR" dirty="0"/>
              <a:t>– a execução da instrução pode necessitar de </a:t>
            </a:r>
            <a:r>
              <a:rPr lang="pt-BR" dirty="0" smtClean="0"/>
              <a:t>alguma operação </a:t>
            </a:r>
            <a:r>
              <a:rPr lang="pt-BR" dirty="0"/>
              <a:t>aritmética ou lógica com os dados.</a:t>
            </a:r>
          </a:p>
          <a:p>
            <a:r>
              <a:rPr lang="pt-BR" b="1" dirty="0"/>
              <a:t>e) Gravar os dados </a:t>
            </a:r>
            <a:r>
              <a:rPr lang="pt-BR" dirty="0"/>
              <a:t>– a execução da instrução pode requerer a </a:t>
            </a:r>
            <a:r>
              <a:rPr lang="pt-BR" dirty="0" smtClean="0"/>
              <a:t>gravação dos </a:t>
            </a:r>
            <a:r>
              <a:rPr lang="pt-BR" dirty="0"/>
              <a:t>dados na memória ou em um dispositivo de saída.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5856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err="1"/>
              <a:t>Componentes</a:t>
            </a:r>
            <a:r>
              <a:rPr lang="en-ZA" b="1" dirty="0"/>
              <a:t> do </a:t>
            </a:r>
            <a:r>
              <a:rPr lang="en-ZA" b="1" dirty="0" err="1"/>
              <a:t>processador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processador possui basicamente os seguintes componentes:</a:t>
            </a:r>
          </a:p>
          <a:p>
            <a:pPr marL="0" indent="0">
              <a:buNone/>
            </a:pPr>
            <a:r>
              <a:rPr lang="en-ZA" dirty="0"/>
              <a:t>• </a:t>
            </a:r>
            <a:r>
              <a:rPr lang="en-ZA" dirty="0" err="1"/>
              <a:t>Unidade</a:t>
            </a:r>
            <a:r>
              <a:rPr lang="en-ZA" dirty="0"/>
              <a:t> de </a:t>
            </a:r>
            <a:r>
              <a:rPr lang="en-ZA" dirty="0" err="1"/>
              <a:t>controle</a:t>
            </a:r>
            <a:r>
              <a:rPr lang="en-ZA" dirty="0"/>
              <a:t>.</a:t>
            </a:r>
          </a:p>
          <a:p>
            <a:pPr marL="0" indent="0">
              <a:buNone/>
            </a:pPr>
            <a:r>
              <a:rPr lang="en-ZA" dirty="0"/>
              <a:t>• </a:t>
            </a:r>
            <a:r>
              <a:rPr lang="en-ZA" dirty="0" err="1"/>
              <a:t>Unidade</a:t>
            </a:r>
            <a:r>
              <a:rPr lang="en-ZA" dirty="0"/>
              <a:t> </a:t>
            </a:r>
            <a:r>
              <a:rPr lang="en-ZA" dirty="0" err="1"/>
              <a:t>lógica</a:t>
            </a:r>
            <a:r>
              <a:rPr lang="en-ZA" dirty="0"/>
              <a:t> e </a:t>
            </a:r>
            <a:r>
              <a:rPr lang="en-ZA" dirty="0" err="1"/>
              <a:t>aritmética</a:t>
            </a:r>
            <a:r>
              <a:rPr lang="en-ZA" dirty="0"/>
              <a:t>.</a:t>
            </a:r>
          </a:p>
          <a:p>
            <a:pPr marL="0" indent="0">
              <a:buNone/>
            </a:pPr>
            <a:r>
              <a:rPr lang="en-ZA" dirty="0"/>
              <a:t>• </a:t>
            </a:r>
            <a:r>
              <a:rPr lang="en-ZA" dirty="0" err="1"/>
              <a:t>Registradores</a:t>
            </a:r>
            <a:r>
              <a:rPr lang="en-ZA" dirty="0"/>
              <a:t>.</a:t>
            </a:r>
          </a:p>
          <a:p>
            <a:pPr marL="0" indent="0">
              <a:buNone/>
            </a:pPr>
            <a:r>
              <a:rPr lang="en-ZA" dirty="0"/>
              <a:t>• </a:t>
            </a:r>
            <a:r>
              <a:rPr lang="en-ZA" dirty="0" err="1"/>
              <a:t>Barramentos</a:t>
            </a:r>
            <a:r>
              <a:rPr lang="en-Z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56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Unidade</a:t>
            </a:r>
            <a:r>
              <a:rPr lang="en-ZA" dirty="0"/>
              <a:t> de </a:t>
            </a:r>
            <a:r>
              <a:rPr lang="en-ZA" dirty="0" err="1"/>
              <a:t>controle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unidade de controle do processador é responsável por realizar a </a:t>
            </a:r>
            <a:r>
              <a:rPr lang="pt-BR" dirty="0" smtClean="0"/>
              <a:t>interpretação das </a:t>
            </a:r>
            <a:r>
              <a:rPr lang="pt-BR" dirty="0"/>
              <a:t>instruções de máquina a serem executadas pelo computador, e </a:t>
            </a:r>
            <a:r>
              <a:rPr lang="pt-BR" dirty="0" smtClean="0"/>
              <a:t>ainda, pela </a:t>
            </a:r>
            <a:r>
              <a:rPr lang="pt-BR" dirty="0"/>
              <a:t>transferência de dados e instruções para dentro e para fora da CPU. </a:t>
            </a:r>
            <a:r>
              <a:rPr lang="pt-BR" dirty="0" smtClean="0"/>
              <a:t>Ela controla </a:t>
            </a:r>
            <a:r>
              <a:rPr lang="pt-BR" dirty="0"/>
              <a:t>todas as ações a serem realizadas pelo computador, garantindo </a:t>
            </a:r>
            <a:r>
              <a:rPr lang="pt-BR" dirty="0" smtClean="0"/>
              <a:t>a correta </a:t>
            </a:r>
            <a:r>
              <a:rPr lang="pt-BR" dirty="0"/>
              <a:t>manipulação dos dados e execução dos programas.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3415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err="1"/>
              <a:t>Unidade</a:t>
            </a:r>
            <a:r>
              <a:rPr lang="en-ZA" b="1" dirty="0"/>
              <a:t> </a:t>
            </a:r>
            <a:r>
              <a:rPr lang="en-ZA" b="1" dirty="0" err="1"/>
              <a:t>lógica</a:t>
            </a:r>
            <a:r>
              <a:rPr lang="en-ZA" b="1" dirty="0"/>
              <a:t> e </a:t>
            </a:r>
            <a:r>
              <a:rPr lang="en-ZA" b="1" dirty="0" err="1"/>
              <a:t>aritmética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unidade lógica e aritmética é responsável por, efetivamente, processar </a:t>
            </a:r>
            <a:r>
              <a:rPr lang="pt-BR" dirty="0" smtClean="0"/>
              <a:t>as informações </a:t>
            </a:r>
            <a:r>
              <a:rPr lang="pt-BR" dirty="0"/>
              <a:t>através da realização de cálculos e comparações</a:t>
            </a:r>
            <a:r>
              <a:rPr lang="pt-BR" dirty="0" smtClean="0"/>
              <a:t>.</a:t>
            </a:r>
            <a:r>
              <a:rPr lang="en-ZA" dirty="0"/>
              <a:t> </a:t>
            </a:r>
            <a:endParaRPr lang="en-ZA" dirty="0" smtClean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7064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b="1" dirty="0" err="1" smtClean="0"/>
              <a:t>Registradores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registradores são posições de memória dentro do processador </a:t>
            </a:r>
            <a:r>
              <a:rPr lang="pt-BR" dirty="0" smtClean="0"/>
              <a:t>responsáveis por </a:t>
            </a:r>
            <a:r>
              <a:rPr lang="pt-BR" dirty="0"/>
              <a:t>armazenar, temporariamente, os valores (dados) que estão sendo </a:t>
            </a:r>
            <a:r>
              <a:rPr lang="pt-BR" dirty="0" smtClean="0"/>
              <a:t>processados e </a:t>
            </a:r>
            <a:r>
              <a:rPr lang="pt-BR" dirty="0"/>
              <a:t>algumas informações de controle necessárias para o processamento</a:t>
            </a:r>
            <a:r>
              <a:rPr lang="pt-BR" dirty="0" smtClean="0"/>
              <a:t>.</a:t>
            </a:r>
            <a:endParaRPr lang="en-ZA" dirty="0"/>
          </a:p>
          <a:p>
            <a:r>
              <a:rPr lang="en-ZA" b="1" i="1" dirty="0" err="1"/>
              <a:t>Os</a:t>
            </a:r>
            <a:r>
              <a:rPr lang="en-ZA" b="1" i="1" dirty="0"/>
              <a:t> </a:t>
            </a:r>
            <a:r>
              <a:rPr lang="en-ZA" b="1" i="1" dirty="0" err="1"/>
              <a:t>registradores</a:t>
            </a:r>
            <a:r>
              <a:rPr lang="en-ZA" b="1" i="1" dirty="0"/>
              <a:t> </a:t>
            </a:r>
            <a:r>
              <a:rPr lang="en-ZA" b="1" i="1" dirty="0" err="1"/>
              <a:t>podem</a:t>
            </a:r>
            <a:r>
              <a:rPr lang="en-ZA" b="1" i="1" dirty="0"/>
              <a:t> </a:t>
            </a:r>
            <a:r>
              <a:rPr lang="en-ZA" b="1" i="1" dirty="0" err="1"/>
              <a:t>ser</a:t>
            </a:r>
            <a:r>
              <a:rPr lang="en-ZA" b="1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7013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/>
          </a:bodyPr>
          <a:lstStyle/>
          <a:p>
            <a:r>
              <a:rPr lang="pt-BR" b="1" dirty="0"/>
              <a:t>a) De uso geral </a:t>
            </a:r>
            <a:r>
              <a:rPr lang="pt-BR" dirty="0"/>
              <a:t>– podem ser usados para uma variedade de funções </a:t>
            </a:r>
            <a:r>
              <a:rPr lang="pt-BR" dirty="0" smtClean="0"/>
              <a:t>pelo programador</a:t>
            </a:r>
            <a:r>
              <a:rPr lang="pt-BR" dirty="0"/>
              <a:t>. São divididos em 2 grupos podendo armazenar dados </a:t>
            </a:r>
            <a:r>
              <a:rPr lang="pt-BR" dirty="0" smtClean="0"/>
              <a:t>ou </a:t>
            </a:r>
            <a:r>
              <a:rPr lang="en-ZA" dirty="0" err="1" smtClean="0"/>
              <a:t>endereços</a:t>
            </a:r>
            <a:r>
              <a:rPr lang="en-ZA" dirty="0" smtClean="0"/>
              <a:t> </a:t>
            </a:r>
            <a:r>
              <a:rPr lang="en-ZA" dirty="0"/>
              <a:t>de </a:t>
            </a:r>
            <a:r>
              <a:rPr lang="en-ZA" dirty="0" err="1"/>
              <a:t>memória</a:t>
            </a:r>
            <a:r>
              <a:rPr lang="en-ZA" dirty="0"/>
              <a:t>.</a:t>
            </a:r>
          </a:p>
          <a:p>
            <a:r>
              <a:rPr lang="pt-BR" b="1" dirty="0"/>
              <a:t>b) Contador de programas </a:t>
            </a:r>
            <a:r>
              <a:rPr lang="pt-BR" dirty="0"/>
              <a:t>(PC – </a:t>
            </a:r>
            <a:r>
              <a:rPr lang="pt-BR" i="1" dirty="0"/>
              <a:t>Program Counter</a:t>
            </a:r>
            <a:r>
              <a:rPr lang="pt-BR" dirty="0"/>
              <a:t>) – contém o </a:t>
            </a:r>
            <a:r>
              <a:rPr lang="pt-BR" dirty="0" smtClean="0"/>
              <a:t>endereço de </a:t>
            </a:r>
            <a:r>
              <a:rPr lang="pt-BR" dirty="0"/>
              <a:t>uma instrução a ser lida.</a:t>
            </a:r>
          </a:p>
          <a:p>
            <a:r>
              <a:rPr lang="pt-BR" b="1" dirty="0"/>
              <a:t>c) Registrador da instrução </a:t>
            </a:r>
            <a:r>
              <a:rPr lang="pt-BR" dirty="0"/>
              <a:t>(IR – </a:t>
            </a:r>
            <a:r>
              <a:rPr lang="pt-BR" i="1" dirty="0"/>
              <a:t>Instruction Register</a:t>
            </a:r>
            <a:r>
              <a:rPr lang="pt-BR" dirty="0"/>
              <a:t>) – contém a </a:t>
            </a:r>
            <a:r>
              <a:rPr lang="pt-BR" dirty="0" smtClean="0"/>
              <a:t>instrução </a:t>
            </a:r>
            <a:r>
              <a:rPr lang="en-ZA" dirty="0" err="1" smtClean="0"/>
              <a:t>lida</a:t>
            </a:r>
            <a:r>
              <a:rPr lang="en-ZA" dirty="0" smtClean="0"/>
              <a:t> </a:t>
            </a:r>
            <a:r>
              <a:rPr lang="en-ZA" dirty="0" err="1"/>
              <a:t>mais</a:t>
            </a:r>
            <a:r>
              <a:rPr lang="en-ZA" dirty="0"/>
              <a:t> </a:t>
            </a:r>
            <a:r>
              <a:rPr lang="en-ZA" dirty="0" err="1"/>
              <a:t>recentemente</a:t>
            </a:r>
            <a:r>
              <a:rPr lang="en-ZA" dirty="0" smtClean="0"/>
              <a:t>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2250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d) Registrador de endereço de memória </a:t>
            </a:r>
            <a:r>
              <a:rPr lang="pt-BR" dirty="0"/>
              <a:t>(MAR – </a:t>
            </a:r>
            <a:r>
              <a:rPr lang="pt-BR" i="1" dirty="0"/>
              <a:t>Memory Address Register</a:t>
            </a:r>
            <a:r>
              <a:rPr lang="pt-BR" dirty="0"/>
              <a:t>) – contém o endereço de uma posição de memória.</a:t>
            </a:r>
          </a:p>
          <a:p>
            <a:r>
              <a:rPr lang="pt-BR" b="1" dirty="0"/>
              <a:t>e) Registrador de </a:t>
            </a:r>
            <a:r>
              <a:rPr lang="pt-BR" b="1" i="1" dirty="0"/>
              <a:t>buffer </a:t>
            </a:r>
            <a:r>
              <a:rPr lang="pt-BR" b="1" dirty="0"/>
              <a:t>de memória </a:t>
            </a:r>
            <a:r>
              <a:rPr lang="pt-BR" dirty="0"/>
              <a:t>(MBR – </a:t>
            </a:r>
            <a:r>
              <a:rPr lang="pt-BR" i="1" dirty="0"/>
              <a:t>Memory Buffer Register</a:t>
            </a:r>
            <a:r>
              <a:rPr lang="pt-BR" dirty="0"/>
              <a:t>) </a:t>
            </a:r>
            <a:r>
              <a:rPr lang="pt-BR" dirty="0" smtClean="0"/>
              <a:t>– contém </a:t>
            </a:r>
            <a:r>
              <a:rPr lang="pt-BR" dirty="0"/>
              <a:t>um valor (dado) para ser escrito na memória ou o valor lido mais </a:t>
            </a:r>
            <a:r>
              <a:rPr lang="en-ZA" dirty="0" err="1"/>
              <a:t>recentemente</a:t>
            </a:r>
            <a:r>
              <a:rPr lang="en-ZA" dirty="0"/>
              <a:t>.</a:t>
            </a:r>
          </a:p>
          <a:p>
            <a:r>
              <a:rPr lang="pt-BR" b="1" dirty="0"/>
              <a:t>f) </a:t>
            </a:r>
            <a:r>
              <a:rPr lang="pt-BR" b="1" i="1" dirty="0"/>
              <a:t>Flags </a:t>
            </a:r>
            <a:r>
              <a:rPr lang="pt-BR" b="1" dirty="0"/>
              <a:t>ou estado do programa </a:t>
            </a:r>
            <a:r>
              <a:rPr lang="pt-BR" dirty="0"/>
              <a:t>(PSW – </a:t>
            </a:r>
            <a:r>
              <a:rPr lang="pt-BR" i="1" dirty="0"/>
              <a:t>Program Status Word</a:t>
            </a:r>
            <a:r>
              <a:rPr lang="pt-BR" dirty="0"/>
              <a:t>) – contém a informação do estado do programa e da última operação lógica ou </a:t>
            </a:r>
            <a:r>
              <a:rPr lang="en-ZA" dirty="0" err="1"/>
              <a:t>aritmética</a:t>
            </a:r>
            <a:r>
              <a:rPr lang="en-ZA" dirty="0"/>
              <a:t>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2720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err="1"/>
              <a:t>Barramentos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Os barramentos são linhas ou fios de conexão que permitem a </a:t>
            </a:r>
            <a:r>
              <a:rPr lang="pt-BR" dirty="0" smtClean="0"/>
              <a:t>comunicação do </a:t>
            </a:r>
            <a:r>
              <a:rPr lang="pt-BR" dirty="0"/>
              <a:t>processador com os demais componentes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r>
              <a:rPr lang="en-ZA" b="1" i="1" dirty="0" smtClean="0"/>
              <a:t> 	</a:t>
            </a:r>
            <a:r>
              <a:rPr lang="en-ZA" b="1" i="1" dirty="0" err="1" smtClean="0"/>
              <a:t>Os</a:t>
            </a:r>
            <a:r>
              <a:rPr lang="en-ZA" b="1" i="1" dirty="0" smtClean="0"/>
              <a:t> </a:t>
            </a:r>
            <a:r>
              <a:rPr lang="en-ZA" b="1" i="1" dirty="0" err="1"/>
              <a:t>barramentos</a:t>
            </a:r>
            <a:r>
              <a:rPr lang="en-ZA" b="1" i="1" dirty="0"/>
              <a:t> </a:t>
            </a:r>
            <a:r>
              <a:rPr lang="en-ZA" b="1" i="1" dirty="0" err="1"/>
              <a:t>podem</a:t>
            </a:r>
            <a:r>
              <a:rPr lang="en-ZA" b="1" i="1" dirty="0"/>
              <a:t> </a:t>
            </a:r>
            <a:r>
              <a:rPr lang="en-ZA" b="1" i="1" dirty="0" err="1"/>
              <a:t>ser</a:t>
            </a:r>
            <a:r>
              <a:rPr lang="en-ZA" b="1" i="1" dirty="0" smtClean="0"/>
              <a:t>:</a:t>
            </a:r>
          </a:p>
          <a:p>
            <a:r>
              <a:rPr lang="pt-BR" b="1" dirty="0"/>
              <a:t>a) Barramento de dados </a:t>
            </a:r>
            <a:r>
              <a:rPr lang="pt-BR" dirty="0"/>
              <a:t>– através dele trafegam os dados que são </a:t>
            </a:r>
            <a:r>
              <a:rPr lang="pt-BR" dirty="0" smtClean="0"/>
              <a:t>transmitidos ou </a:t>
            </a:r>
            <a:r>
              <a:rPr lang="pt-BR" dirty="0"/>
              <a:t>recebidos pelo processador. Os dados transmitidos podem </a:t>
            </a:r>
            <a:r>
              <a:rPr lang="pt-BR" dirty="0" smtClean="0"/>
              <a:t>ser enviados </a:t>
            </a:r>
            <a:r>
              <a:rPr lang="pt-BR" dirty="0"/>
              <a:t>para a memória ou para um dispositivo de saída. Eles </a:t>
            </a:r>
            <a:r>
              <a:rPr lang="pt-BR" dirty="0" smtClean="0"/>
              <a:t>podem também </a:t>
            </a:r>
            <a:r>
              <a:rPr lang="pt-BR" dirty="0"/>
              <a:t>ser recebidos da memória, ou de um dispositivo de entrada.</a:t>
            </a:r>
          </a:p>
          <a:p>
            <a:r>
              <a:rPr lang="pt-BR" b="1" dirty="0"/>
              <a:t>b) Barramento de endereços </a:t>
            </a:r>
            <a:r>
              <a:rPr lang="pt-BR" dirty="0"/>
              <a:t>– é utilizado pelo processador para </a:t>
            </a:r>
            <a:r>
              <a:rPr lang="pt-BR" dirty="0" smtClean="0"/>
              <a:t>especificar qual </a:t>
            </a:r>
            <a:r>
              <a:rPr lang="pt-BR" dirty="0"/>
              <a:t>é a posição de memória a ser acessada ou qual é o </a:t>
            </a:r>
            <a:r>
              <a:rPr lang="pt-BR" dirty="0" smtClean="0"/>
              <a:t>dispositivo de </a:t>
            </a:r>
            <a:r>
              <a:rPr lang="pt-BR" dirty="0"/>
              <a:t>E/S a ser ativado.</a:t>
            </a:r>
          </a:p>
          <a:p>
            <a:r>
              <a:rPr lang="pt-BR" b="1" dirty="0"/>
              <a:t>c) Barramento de controle </a:t>
            </a:r>
            <a:r>
              <a:rPr lang="pt-BR" dirty="0"/>
              <a:t>– é utilizado para definir se a operação a </a:t>
            </a:r>
            <a:r>
              <a:rPr lang="pt-BR" dirty="0" smtClean="0"/>
              <a:t>ser realizada </a:t>
            </a:r>
            <a:r>
              <a:rPr lang="pt-BR" dirty="0"/>
              <a:t>é uma leitura ou gravação na memória ou num dispositivo </a:t>
            </a:r>
            <a:r>
              <a:rPr lang="pt-BR" dirty="0" smtClean="0"/>
              <a:t>de E/S</a:t>
            </a:r>
            <a:r>
              <a:rPr lang="pt-BR" dirty="0"/>
              <a:t>, entre outras funções de controle.</a:t>
            </a:r>
            <a:endParaRPr lang="en-ZA" b="1" i="1" dirty="0"/>
          </a:p>
        </p:txBody>
      </p:sp>
    </p:spTree>
    <p:extLst>
      <p:ext uri="{BB962C8B-B14F-4D97-AF65-F5344CB8AC3E}">
        <p14:creationId xmlns:p14="http://schemas.microsoft.com/office/powerpoint/2010/main" val="1573747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err="1"/>
              <a:t>Implementação</a:t>
            </a:r>
            <a:r>
              <a:rPr lang="en-ZA" b="1" dirty="0"/>
              <a:t> da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Durante a fase de projeto e construção de uma CPU, os projetistas </a:t>
            </a:r>
            <a:r>
              <a:rPr lang="pt-BR" dirty="0" smtClean="0"/>
              <a:t>devem decidir </a:t>
            </a:r>
            <a:r>
              <a:rPr lang="pt-BR" dirty="0"/>
              <a:t>como os circuitos eletrônicos vão executar as instruções dos programas.</a:t>
            </a:r>
          </a:p>
          <a:p>
            <a:r>
              <a:rPr lang="pt-BR" dirty="0"/>
              <a:t>Conceitualmente, há duas formas de implementar as instruções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3912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/>
              <a:t>a) Implementação monociclo </a:t>
            </a:r>
            <a:r>
              <a:rPr lang="pt-BR" dirty="0"/>
              <a:t>– nessa abordagem, cada instrução é </a:t>
            </a:r>
            <a:r>
              <a:rPr lang="pt-BR" dirty="0" smtClean="0"/>
              <a:t>executada completamente </a:t>
            </a:r>
            <a:r>
              <a:rPr lang="pt-BR" dirty="0"/>
              <a:t>num único ciclo de </a:t>
            </a:r>
            <a:r>
              <a:rPr lang="pt-BR" i="1" dirty="0"/>
              <a:t>clock</a:t>
            </a:r>
            <a:r>
              <a:rPr lang="pt-BR" dirty="0"/>
              <a:t>. Como existem </a:t>
            </a:r>
            <a:r>
              <a:rPr lang="pt-BR" dirty="0" smtClean="0"/>
              <a:t>diferentes tipos </a:t>
            </a:r>
            <a:r>
              <a:rPr lang="pt-BR" dirty="0"/>
              <a:t>de instruções, com diferentes tempos de execução, fica </a:t>
            </a:r>
            <a:r>
              <a:rPr lang="pt-BR" dirty="0" smtClean="0"/>
              <a:t>padronizado aquela </a:t>
            </a:r>
            <a:r>
              <a:rPr lang="pt-BR" dirty="0"/>
              <a:t>com o maior tempo de execução. Uma operação </a:t>
            </a:r>
            <a:r>
              <a:rPr lang="pt-BR" dirty="0" smtClean="0"/>
              <a:t>completa de </a:t>
            </a:r>
            <a:r>
              <a:rPr lang="pt-BR" dirty="0"/>
              <a:t>busca-decodifica-executa é realizada num único ciclo de </a:t>
            </a:r>
            <a:r>
              <a:rPr lang="pt-BR" i="1" dirty="0"/>
              <a:t>clock</a:t>
            </a:r>
            <a:r>
              <a:rPr lang="pt-BR" dirty="0"/>
              <a:t>. </a:t>
            </a:r>
            <a:r>
              <a:rPr lang="pt-BR" dirty="0" smtClean="0"/>
              <a:t>Como esse </a:t>
            </a:r>
            <a:r>
              <a:rPr lang="pt-BR" dirty="0"/>
              <a:t>tipo de implementação gera desperdício de tempo nas </a:t>
            </a:r>
            <a:r>
              <a:rPr lang="pt-BR" dirty="0" smtClean="0"/>
              <a:t>instruções mais </a:t>
            </a:r>
            <a:r>
              <a:rPr lang="pt-BR" dirty="0"/>
              <a:t>rápidas, além de exigir mais </a:t>
            </a:r>
            <a:r>
              <a:rPr lang="pt-BR" i="1" dirty="0"/>
              <a:t>hardware </a:t>
            </a:r>
            <a:r>
              <a:rPr lang="pt-BR" dirty="0"/>
              <a:t>para sua implementação, </a:t>
            </a:r>
            <a:r>
              <a:rPr lang="pt-BR" dirty="0" smtClean="0"/>
              <a:t>não </a:t>
            </a:r>
            <a:r>
              <a:rPr lang="en-ZA" dirty="0" smtClean="0"/>
              <a:t>tem </a:t>
            </a:r>
            <a:r>
              <a:rPr lang="en-ZA" dirty="0" err="1"/>
              <a:t>sido</a:t>
            </a:r>
            <a:r>
              <a:rPr lang="en-ZA" dirty="0"/>
              <a:t> </a:t>
            </a:r>
            <a:r>
              <a:rPr lang="en-ZA" dirty="0" err="1"/>
              <a:t>utilizada</a:t>
            </a:r>
            <a:r>
              <a:rPr lang="en-ZA" dirty="0"/>
              <a:t> </a:t>
            </a:r>
            <a:r>
              <a:rPr lang="en-ZA" dirty="0" err="1"/>
              <a:t>atualmente</a:t>
            </a:r>
            <a:r>
              <a:rPr lang="en-Z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593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/>
              <a:t>Implementação multiciclo </a:t>
            </a:r>
            <a:r>
              <a:rPr lang="pt-BR" dirty="0"/>
              <a:t>– nessa abordagem, a CPU é dividida </a:t>
            </a:r>
            <a:r>
              <a:rPr lang="pt-BR" dirty="0" smtClean="0"/>
              <a:t>em diferentes </a:t>
            </a:r>
            <a:r>
              <a:rPr lang="pt-BR" dirty="0"/>
              <a:t>estágios e cada um deles é executado num único ciclo de </a:t>
            </a:r>
            <a:r>
              <a:rPr lang="pt-BR" i="1" dirty="0" smtClean="0"/>
              <a:t>clock</a:t>
            </a:r>
            <a:r>
              <a:rPr lang="pt-BR" dirty="0" smtClean="0"/>
              <a:t>. Com </a:t>
            </a:r>
            <a:r>
              <a:rPr lang="pt-BR" dirty="0"/>
              <a:t>estágios menores, o tempo do ciclo de </a:t>
            </a:r>
            <a:r>
              <a:rPr lang="pt-BR" i="1" dirty="0"/>
              <a:t>clock </a:t>
            </a:r>
            <a:r>
              <a:rPr lang="pt-BR" dirty="0"/>
              <a:t>pode ser menor. </a:t>
            </a:r>
            <a:r>
              <a:rPr lang="pt-BR" dirty="0" smtClean="0"/>
              <a:t>Como as </a:t>
            </a:r>
            <a:r>
              <a:rPr lang="pt-BR" dirty="0"/>
              <a:t>diferentes instruções requerem quantidades de estágios diferentes, </a:t>
            </a:r>
            <a:r>
              <a:rPr lang="pt-BR" dirty="0" smtClean="0"/>
              <a:t>algumas instruções </a:t>
            </a:r>
            <a:r>
              <a:rPr lang="pt-BR" dirty="0"/>
              <a:t>podem ser processadas em menos tempo. Existe </a:t>
            </a:r>
            <a:r>
              <a:rPr lang="pt-BR" dirty="0" smtClean="0"/>
              <a:t>pelo menos </a:t>
            </a:r>
            <a:r>
              <a:rPr lang="pt-BR" dirty="0"/>
              <a:t>um estágio para cada uma das operações de busca, </a:t>
            </a:r>
            <a:r>
              <a:rPr lang="pt-BR" dirty="0" smtClean="0"/>
              <a:t>decodificação, acesso </a:t>
            </a:r>
            <a:r>
              <a:rPr lang="pt-BR" dirty="0"/>
              <a:t>à memória, operação com a ULA e acesso aos registradores. </a:t>
            </a:r>
            <a:r>
              <a:rPr lang="pt-BR" dirty="0" smtClean="0"/>
              <a:t>Essa </a:t>
            </a:r>
            <a:r>
              <a:rPr lang="pt-BR" dirty="0"/>
              <a:t>implementação exige menos </a:t>
            </a:r>
            <a:r>
              <a:rPr lang="pt-BR" i="1" dirty="0"/>
              <a:t>hardware </a:t>
            </a:r>
            <a:r>
              <a:rPr lang="pt-BR" dirty="0"/>
              <a:t>para sua implementação, pois </a:t>
            </a:r>
            <a:r>
              <a:rPr lang="pt-BR" dirty="0" smtClean="0"/>
              <a:t>um mesmo </a:t>
            </a:r>
            <a:r>
              <a:rPr lang="pt-BR" dirty="0"/>
              <a:t>componente de </a:t>
            </a:r>
            <a:r>
              <a:rPr lang="pt-BR" i="1" dirty="0"/>
              <a:t>hardware </a:t>
            </a:r>
            <a:r>
              <a:rPr lang="pt-BR" dirty="0"/>
              <a:t>pode ser usado em diferentes estágios.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9203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/>
          </a:bodyPr>
          <a:lstStyle/>
          <a:p>
            <a:r>
              <a:rPr lang="pt-BR" dirty="0"/>
              <a:t>Quando um processador é desenvolvido, ele disponibiliza o conjunto de </a:t>
            </a:r>
            <a:r>
              <a:rPr lang="pt-BR" dirty="0" smtClean="0"/>
              <a:t>instruções (linguagem</a:t>
            </a:r>
            <a:r>
              <a:rPr lang="pt-BR" dirty="0"/>
              <a:t>) que pode ser usado pelos programadores para </a:t>
            </a:r>
            <a:r>
              <a:rPr lang="pt-BR" dirty="0" smtClean="0"/>
              <a:t>escrever os </a:t>
            </a:r>
            <a:r>
              <a:rPr lang="pt-BR" dirty="0"/>
              <a:t>programas. De acordo com o tipo de instrução, um processador pode </a:t>
            </a:r>
            <a:r>
              <a:rPr lang="pt-BR" dirty="0" smtClean="0"/>
              <a:t>ser: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1044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120680"/>
          </a:xfrm>
        </p:spPr>
        <p:txBody>
          <a:bodyPr>
            <a:normAutofit fontScale="70000" lnSpcReduction="20000"/>
          </a:bodyPr>
          <a:lstStyle/>
          <a:p>
            <a:endParaRPr lang="pt-BR" dirty="0"/>
          </a:p>
          <a:p>
            <a:r>
              <a:rPr lang="pt-BR" sz="4600" b="1" dirty="0"/>
              <a:t>a) </a:t>
            </a:r>
            <a:r>
              <a:rPr lang="pt-BR" sz="4600" b="1" i="1" dirty="0"/>
              <a:t>Complex Instruction Set Computer </a:t>
            </a:r>
            <a:r>
              <a:rPr lang="pt-BR" sz="4600" dirty="0"/>
              <a:t>(CISC) – esse tipo de processador possui um conjunto complexo de instruções e é capaz de executar centenas de instruções complexas diferentes. Esses processadores se baseiam na microprogramação, que é um conjunto de códigos de instruções que são gravados no processador. Dessa forma, ao receber a instrução de um programa o processador a executa utilizando as instruções contidas na sua microprogramação. Cada instrução do programa corresponde a várias instruções mais próximas do </a:t>
            </a:r>
            <a:r>
              <a:rPr lang="pt-BR" sz="4600" i="1" dirty="0"/>
              <a:t>hardware</a:t>
            </a:r>
            <a:r>
              <a:rPr lang="pt-BR" sz="4600" dirty="0"/>
              <a:t>, contidas no microcódigo </a:t>
            </a:r>
            <a:r>
              <a:rPr lang="en-ZA" sz="4600" dirty="0"/>
              <a:t>do </a:t>
            </a:r>
            <a:r>
              <a:rPr lang="en-ZA" sz="4600" dirty="0" err="1"/>
              <a:t>processador</a:t>
            </a:r>
            <a:r>
              <a:rPr lang="en-ZA" sz="4600" dirty="0"/>
              <a:t>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35338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/>
          </a:bodyPr>
          <a:lstStyle/>
          <a:p>
            <a:r>
              <a:rPr lang="en-ZA" b="1" dirty="0"/>
              <a:t>b) </a:t>
            </a:r>
            <a:r>
              <a:rPr lang="en-ZA" b="1" i="1" dirty="0"/>
              <a:t>Reduced Instruction Set Computer </a:t>
            </a:r>
            <a:r>
              <a:rPr lang="en-ZA" dirty="0"/>
              <a:t>(RISC) – </a:t>
            </a:r>
            <a:r>
              <a:rPr lang="en-ZA" dirty="0" err="1"/>
              <a:t>esse</a:t>
            </a:r>
            <a:r>
              <a:rPr lang="en-ZA" dirty="0"/>
              <a:t> </a:t>
            </a:r>
            <a:r>
              <a:rPr lang="en-ZA" dirty="0" err="1"/>
              <a:t>tipo</a:t>
            </a:r>
            <a:r>
              <a:rPr lang="en-ZA" dirty="0"/>
              <a:t> de </a:t>
            </a:r>
            <a:r>
              <a:rPr lang="en-ZA" dirty="0" err="1" smtClean="0"/>
              <a:t>processador</a:t>
            </a:r>
            <a:r>
              <a:rPr lang="en-ZA" dirty="0"/>
              <a:t> </a:t>
            </a:r>
            <a:r>
              <a:rPr lang="pt-BR" dirty="0" smtClean="0"/>
              <a:t>disponibiliza </a:t>
            </a:r>
            <a:r>
              <a:rPr lang="pt-BR" dirty="0"/>
              <a:t>um conjunto simples e pequeno (reduzido) de </a:t>
            </a:r>
            <a:r>
              <a:rPr lang="pt-BR" dirty="0" smtClean="0"/>
              <a:t>instruções, que </a:t>
            </a:r>
            <a:r>
              <a:rPr lang="pt-BR" dirty="0"/>
              <a:t>levam aproximadamente a mesma quantidade de tempo para </a:t>
            </a:r>
            <a:r>
              <a:rPr lang="pt-BR" dirty="0" smtClean="0"/>
              <a:t>serem executadas</a:t>
            </a:r>
            <a:r>
              <a:rPr lang="pt-BR" dirty="0"/>
              <a:t>. Esses processadores não têm microprogramação e </a:t>
            </a:r>
            <a:r>
              <a:rPr lang="pt-BR" dirty="0" smtClean="0"/>
              <a:t>cada instrução </a:t>
            </a:r>
            <a:r>
              <a:rPr lang="pt-BR" dirty="0"/>
              <a:t>do programa é executada diretamente pelo </a:t>
            </a:r>
            <a:r>
              <a:rPr lang="pt-BR" i="1" dirty="0"/>
              <a:t>hardware</a:t>
            </a:r>
            <a:r>
              <a:rPr lang="pt-BR" dirty="0"/>
              <a:t>. </a:t>
            </a:r>
            <a:r>
              <a:rPr lang="pt-BR" dirty="0" smtClean="0"/>
              <a:t>Como essa </a:t>
            </a:r>
            <a:r>
              <a:rPr lang="pt-BR" dirty="0"/>
              <a:t>arquitetura não tem microcódigo, ela apresenta um baixo nível </a:t>
            </a:r>
            <a:r>
              <a:rPr lang="pt-BR" dirty="0" smtClean="0"/>
              <a:t>de </a:t>
            </a:r>
            <a:r>
              <a:rPr lang="en-ZA" dirty="0" err="1" smtClean="0"/>
              <a:t>complexidade</a:t>
            </a:r>
            <a:r>
              <a:rPr lang="en-Z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849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err="1"/>
              <a:t>Evolução</a:t>
            </a:r>
            <a:r>
              <a:rPr lang="en-ZA" b="1" dirty="0"/>
              <a:t> dos </a:t>
            </a:r>
            <a:r>
              <a:rPr lang="en-ZA" b="1" dirty="0" err="1"/>
              <a:t>processadores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Os processadores têm apresentado uma evolução constante no </a:t>
            </a:r>
            <a:r>
              <a:rPr lang="pt-BR" dirty="0" smtClean="0"/>
              <a:t>desempenho, especialmente </a:t>
            </a:r>
            <a:r>
              <a:rPr lang="pt-BR" dirty="0"/>
              <a:t>devido à miniaturização dos componentes. Isso tem </a:t>
            </a:r>
            <a:r>
              <a:rPr lang="pt-BR" dirty="0" smtClean="0"/>
              <a:t>permitido produzir </a:t>
            </a:r>
            <a:r>
              <a:rPr lang="pt-BR" dirty="0"/>
              <a:t>processadores mais rápidos, menores e com menor custo</a:t>
            </a:r>
            <a:r>
              <a:rPr lang="pt-BR" dirty="0" smtClean="0"/>
              <a:t>.</a:t>
            </a:r>
          </a:p>
          <a:p>
            <a:r>
              <a:rPr lang="pt-BR" dirty="0"/>
              <a:t>A busca por aumento no desempenho dos processadores é constante. </a:t>
            </a:r>
            <a:r>
              <a:rPr lang="pt-BR" dirty="0" smtClean="0"/>
              <a:t>As principais </a:t>
            </a:r>
            <a:r>
              <a:rPr lang="pt-BR" dirty="0"/>
              <a:t>evoluções nos processadores para obter um maior desempenho </a:t>
            </a:r>
            <a:r>
              <a:rPr lang="pt-BR" dirty="0" smtClean="0"/>
              <a:t>são </a:t>
            </a:r>
            <a:r>
              <a:rPr lang="en-ZA" dirty="0" err="1" smtClean="0"/>
              <a:t>através</a:t>
            </a:r>
            <a:r>
              <a:rPr lang="en-ZA" dirty="0" smtClean="0"/>
              <a:t> </a:t>
            </a:r>
            <a:r>
              <a:rPr lang="en-ZA" dirty="0"/>
              <a:t>das </a:t>
            </a:r>
            <a:r>
              <a:rPr lang="en-ZA" dirty="0" err="1"/>
              <a:t>seguintes</a:t>
            </a:r>
            <a:r>
              <a:rPr lang="en-ZA" dirty="0"/>
              <a:t> </a:t>
            </a:r>
            <a:r>
              <a:rPr lang="en-ZA" dirty="0" err="1"/>
              <a:t>técnicas</a:t>
            </a:r>
            <a:r>
              <a:rPr lang="en-ZA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8040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 fontScale="85000" lnSpcReduction="20000"/>
          </a:bodyPr>
          <a:lstStyle/>
          <a:p>
            <a:r>
              <a:rPr lang="pt-BR" b="1" dirty="0"/>
              <a:t>a) Aumento do </a:t>
            </a:r>
            <a:r>
              <a:rPr lang="pt-BR" b="1" i="1" dirty="0"/>
              <a:t>clock </a:t>
            </a:r>
            <a:r>
              <a:rPr lang="pt-BR" dirty="0"/>
              <a:t>(</a:t>
            </a:r>
            <a:r>
              <a:rPr lang="pt-BR" b="1" i="1" dirty="0"/>
              <a:t>overclocking</a:t>
            </a:r>
            <a:r>
              <a:rPr lang="pt-BR" dirty="0"/>
              <a:t>) – permite executar mais </a:t>
            </a:r>
            <a:r>
              <a:rPr lang="pt-BR" dirty="0" smtClean="0"/>
              <a:t>instruções por </a:t>
            </a:r>
            <a:r>
              <a:rPr lang="pt-BR" dirty="0"/>
              <a:t>segundo, pois é o </a:t>
            </a:r>
            <a:r>
              <a:rPr lang="pt-BR" i="1" dirty="0"/>
              <a:t>clock </a:t>
            </a:r>
            <a:r>
              <a:rPr lang="pt-BR" dirty="0"/>
              <a:t>que determina o ritmo de execução </a:t>
            </a:r>
            <a:r>
              <a:rPr lang="pt-BR" dirty="0" smtClean="0"/>
              <a:t>das instruções </a:t>
            </a:r>
            <a:r>
              <a:rPr lang="pt-BR" dirty="0"/>
              <a:t>e transferências dos dados. Porém, o aumento de </a:t>
            </a:r>
            <a:r>
              <a:rPr lang="pt-BR" i="1" dirty="0"/>
              <a:t>clock </a:t>
            </a:r>
            <a:r>
              <a:rPr lang="pt-BR" dirty="0" smtClean="0"/>
              <a:t>gera mais </a:t>
            </a:r>
            <a:r>
              <a:rPr lang="pt-BR" dirty="0"/>
              <a:t>calor e maior consumo de energia, além de outros fatores como </a:t>
            </a:r>
            <a:r>
              <a:rPr lang="pt-BR" dirty="0" smtClean="0"/>
              <a:t>o atraso </a:t>
            </a:r>
            <a:r>
              <a:rPr lang="pt-BR" dirty="0"/>
              <a:t>na comunicação devido à resistência dos componentes e a </a:t>
            </a:r>
            <a:r>
              <a:rPr lang="pt-BR" dirty="0" smtClean="0"/>
              <a:t>capacidade de </a:t>
            </a:r>
            <a:r>
              <a:rPr lang="pt-BR" dirty="0"/>
              <a:t>propagação de ondas eletromagnéticas sobre a superfície </a:t>
            </a:r>
            <a:r>
              <a:rPr lang="pt-BR" dirty="0" smtClean="0"/>
              <a:t>dos </a:t>
            </a:r>
            <a:r>
              <a:rPr lang="en-ZA" dirty="0" err="1" smtClean="0"/>
              <a:t>componentes</a:t>
            </a:r>
            <a:r>
              <a:rPr lang="en-ZA" dirty="0" smtClean="0"/>
              <a:t>.</a:t>
            </a:r>
          </a:p>
          <a:p>
            <a:r>
              <a:rPr lang="pt-BR" b="1" dirty="0"/>
              <a:t>b) Aumento no número de </a:t>
            </a:r>
            <a:r>
              <a:rPr lang="pt-BR" b="1" i="1" dirty="0"/>
              <a:t>bits </a:t>
            </a:r>
            <a:r>
              <a:rPr lang="pt-BR" b="1" dirty="0"/>
              <a:t>da CPU </a:t>
            </a:r>
            <a:r>
              <a:rPr lang="pt-BR" dirty="0"/>
              <a:t>– aumentar o número de </a:t>
            </a:r>
            <a:r>
              <a:rPr lang="pt-BR" i="1" dirty="0"/>
              <a:t>bits </a:t>
            </a:r>
            <a:r>
              <a:rPr lang="pt-BR" dirty="0"/>
              <a:t>de dados num processador permite aumentar a capacidade de armazenamento, transporte e processamento de dados na CPU. Na maioria dos processadores atuais, tais circuitos operam com 64 </a:t>
            </a:r>
            <a:r>
              <a:rPr lang="pt-BR" i="1" dirty="0"/>
              <a:t>bits </a:t>
            </a:r>
            <a:r>
              <a:rPr lang="pt-BR" dirty="0"/>
              <a:t>de cada vez.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8001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85000" lnSpcReduction="20000"/>
          </a:bodyPr>
          <a:lstStyle/>
          <a:p>
            <a:r>
              <a:rPr lang="pt-BR" b="1" dirty="0" smtClean="0"/>
              <a:t>c</a:t>
            </a:r>
            <a:r>
              <a:rPr lang="pt-BR" b="1" dirty="0"/>
              <a:t>) Aumento na capacidade de endereçamento </a:t>
            </a:r>
            <a:r>
              <a:rPr lang="pt-BR" dirty="0"/>
              <a:t>– aumentar a </a:t>
            </a:r>
            <a:r>
              <a:rPr lang="pt-BR" dirty="0" smtClean="0"/>
              <a:t>capacidade de </a:t>
            </a:r>
            <a:r>
              <a:rPr lang="pt-BR" dirty="0"/>
              <a:t>endereçamento de memória não está exatamente relacionado </a:t>
            </a:r>
            <a:r>
              <a:rPr lang="pt-BR" dirty="0" smtClean="0"/>
              <a:t>com o </a:t>
            </a:r>
            <a:r>
              <a:rPr lang="pt-BR" dirty="0"/>
              <a:t>desempenho, e sim, com a capacidade de manipular grandes </a:t>
            </a:r>
            <a:r>
              <a:rPr lang="pt-BR" dirty="0" smtClean="0"/>
              <a:t>quantidades de </a:t>
            </a:r>
            <a:r>
              <a:rPr lang="pt-BR" dirty="0"/>
              <a:t>dados, aumentando o volume de dados que pode ser processado</a:t>
            </a:r>
            <a:r>
              <a:rPr lang="pt-BR" dirty="0" smtClean="0"/>
              <a:t>.</a:t>
            </a:r>
          </a:p>
          <a:p>
            <a:r>
              <a:rPr lang="pt-BR" b="1" dirty="0"/>
              <a:t>d) Utilização de memória </a:t>
            </a:r>
            <a:r>
              <a:rPr lang="pt-BR" b="1" i="1" dirty="0"/>
              <a:t>cache </a:t>
            </a:r>
            <a:r>
              <a:rPr lang="pt-BR" dirty="0"/>
              <a:t>– como o desempenho da memória </a:t>
            </a:r>
            <a:r>
              <a:rPr lang="pt-BR" dirty="0" smtClean="0"/>
              <a:t>principal (RAM</a:t>
            </a:r>
            <a:r>
              <a:rPr lang="pt-BR" dirty="0"/>
              <a:t>) é bem inferior ao desempenho da CPU, foi necessário </a:t>
            </a:r>
            <a:r>
              <a:rPr lang="pt-BR" dirty="0" smtClean="0"/>
              <a:t>criar uma </a:t>
            </a:r>
            <a:r>
              <a:rPr lang="pt-BR" dirty="0"/>
              <a:t>hierarquia de memória com uma memória cache </a:t>
            </a:r>
            <a:r>
              <a:rPr lang="pt-BR" dirty="0" smtClean="0"/>
              <a:t>implementada normalmente </a:t>
            </a:r>
            <a:r>
              <a:rPr lang="pt-BR" dirty="0"/>
              <a:t>na própria CPU. Essa memória armazena uma cópia </a:t>
            </a:r>
            <a:r>
              <a:rPr lang="pt-BR" dirty="0" smtClean="0"/>
              <a:t>das instruções </a:t>
            </a:r>
            <a:r>
              <a:rPr lang="pt-BR" dirty="0"/>
              <a:t>e dados recentemente usados e próximos aos </a:t>
            </a:r>
            <a:r>
              <a:rPr lang="pt-BR" dirty="0" smtClean="0"/>
              <a:t>recentemente usados</a:t>
            </a:r>
            <a:r>
              <a:rPr lang="pt-BR" dirty="0"/>
              <a:t>. Desta forma, quando a CPU precisar acessar os dados </a:t>
            </a:r>
            <a:r>
              <a:rPr lang="pt-BR" dirty="0" smtClean="0"/>
              <a:t>verifica primeiro </a:t>
            </a:r>
            <a:r>
              <a:rPr lang="pt-BR" dirty="0"/>
              <a:t>se a cópia que está na cache contém os dados necessários, </a:t>
            </a:r>
            <a:r>
              <a:rPr lang="pt-BR" dirty="0" smtClean="0"/>
              <a:t>minimizando o </a:t>
            </a:r>
            <a:r>
              <a:rPr lang="pt-BR" dirty="0"/>
              <a:t>acesso à memória RAM.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4991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ZA" b="1" dirty="0"/>
              <a:t>e) </a:t>
            </a:r>
            <a:r>
              <a:rPr lang="en-ZA" b="1" dirty="0" err="1"/>
              <a:t>Utilização</a:t>
            </a:r>
            <a:r>
              <a:rPr lang="en-ZA" b="1" dirty="0"/>
              <a:t> de </a:t>
            </a:r>
            <a:r>
              <a:rPr lang="en-ZA" b="1" i="1" dirty="0" smtClean="0"/>
              <a:t>pipelines</a:t>
            </a:r>
          </a:p>
          <a:p>
            <a:r>
              <a:rPr lang="pt-BR" b="1" dirty="0"/>
              <a:t>f) Utilização de arquitetura escalar e </a:t>
            </a:r>
            <a:r>
              <a:rPr lang="pt-BR" b="1" dirty="0" smtClean="0"/>
              <a:t>superescalar</a:t>
            </a:r>
          </a:p>
          <a:p>
            <a:r>
              <a:rPr lang="pt-BR" b="1" dirty="0"/>
              <a:t>g) Utilização de arquitetura </a:t>
            </a:r>
            <a:r>
              <a:rPr lang="pt-BR" b="1" dirty="0" smtClean="0"/>
              <a:t>vetorial</a:t>
            </a:r>
          </a:p>
          <a:p>
            <a:r>
              <a:rPr lang="pt-BR" b="1" dirty="0"/>
              <a:t>h) Utilização de arquitetura </a:t>
            </a:r>
            <a:r>
              <a:rPr lang="pt-BR" b="1" dirty="0" smtClean="0"/>
              <a:t>VLIW </a:t>
            </a:r>
            <a:r>
              <a:rPr lang="en-ZA" dirty="0"/>
              <a:t>(</a:t>
            </a:r>
            <a:r>
              <a:rPr lang="en-ZA" i="1" dirty="0"/>
              <a:t>Very Long Instruction Word</a:t>
            </a:r>
            <a:r>
              <a:rPr lang="en-ZA" dirty="0" smtClean="0"/>
              <a:t>)</a:t>
            </a:r>
          </a:p>
          <a:p>
            <a:r>
              <a:rPr lang="pt-BR" b="1" dirty="0"/>
              <a:t>i) Utilização de </a:t>
            </a:r>
            <a:r>
              <a:rPr lang="pt-BR" b="1" i="1" dirty="0"/>
              <a:t>Multithreading </a:t>
            </a:r>
            <a:r>
              <a:rPr lang="pt-BR" b="1" dirty="0"/>
              <a:t>Simultâneo </a:t>
            </a:r>
            <a:r>
              <a:rPr lang="pt-BR" dirty="0"/>
              <a:t>(SMT</a:t>
            </a:r>
            <a:r>
              <a:rPr lang="pt-BR" dirty="0" smtClean="0"/>
              <a:t>)</a:t>
            </a:r>
          </a:p>
          <a:p>
            <a:r>
              <a:rPr lang="en-ZA" b="1" dirty="0"/>
              <a:t>j) </a:t>
            </a:r>
            <a:r>
              <a:rPr lang="en-ZA" b="1" dirty="0" err="1"/>
              <a:t>Utilização</a:t>
            </a:r>
            <a:r>
              <a:rPr lang="en-ZA" b="1" dirty="0"/>
              <a:t> de </a:t>
            </a:r>
            <a:r>
              <a:rPr lang="en-ZA" b="1" i="1" dirty="0" smtClean="0"/>
              <a:t>multicore</a:t>
            </a:r>
          </a:p>
          <a:p>
            <a:r>
              <a:rPr lang="pt-BR" b="1" dirty="0"/>
              <a:t>k) Incorporação da Unidade de Processamento Gráfico (GPU) na CPU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0233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err="1"/>
              <a:t>Avaliação</a:t>
            </a:r>
            <a:r>
              <a:rPr lang="en-ZA" b="1" dirty="0"/>
              <a:t> de </a:t>
            </a:r>
            <a:r>
              <a:rPr lang="en-ZA" b="1" dirty="0" err="1"/>
              <a:t>desempenho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O desempenho de um processador ou de um computador pode ser </a:t>
            </a:r>
            <a:r>
              <a:rPr lang="pt-BR" dirty="0" smtClean="0"/>
              <a:t>analisado </a:t>
            </a:r>
            <a:r>
              <a:rPr lang="en-ZA" dirty="0" smtClean="0"/>
              <a:t>sob </a:t>
            </a:r>
            <a:r>
              <a:rPr lang="en-ZA" dirty="0" err="1"/>
              <a:t>dois</a:t>
            </a:r>
            <a:r>
              <a:rPr lang="en-ZA" dirty="0"/>
              <a:t> </a:t>
            </a:r>
            <a:r>
              <a:rPr lang="en-ZA" dirty="0" err="1" smtClean="0"/>
              <a:t>aspectos</a:t>
            </a:r>
            <a:r>
              <a:rPr lang="en-ZA" dirty="0" smtClean="0"/>
              <a:t>:</a:t>
            </a:r>
          </a:p>
          <a:p>
            <a:r>
              <a:rPr lang="pt-BR" b="1" dirty="0"/>
              <a:t>a) Tempo de resposta </a:t>
            </a:r>
            <a:r>
              <a:rPr lang="pt-BR" dirty="0"/>
              <a:t>– também chamado de tempo de execução, </a:t>
            </a:r>
            <a:r>
              <a:rPr lang="pt-BR" dirty="0" smtClean="0"/>
              <a:t>corresponde ao </a:t>
            </a:r>
            <a:r>
              <a:rPr lang="pt-BR" dirty="0"/>
              <a:t>tempo total necessário para o computador completar </a:t>
            </a:r>
            <a:r>
              <a:rPr lang="pt-BR" dirty="0" smtClean="0"/>
              <a:t>uma tarefa</a:t>
            </a:r>
            <a:r>
              <a:rPr lang="pt-BR" dirty="0"/>
              <a:t>, como o acesso ao disco, acesso à memória, atividade de E/S </a:t>
            </a:r>
            <a:r>
              <a:rPr lang="pt-BR" dirty="0" smtClean="0"/>
              <a:t>e tempo </a:t>
            </a:r>
            <a:r>
              <a:rPr lang="pt-BR" dirty="0"/>
              <a:t>de execução da CPU. Quanto menor for esse tempo, melhor é </a:t>
            </a:r>
            <a:r>
              <a:rPr lang="pt-BR" dirty="0" smtClean="0"/>
              <a:t>o </a:t>
            </a:r>
            <a:r>
              <a:rPr lang="en-ZA" dirty="0" err="1" smtClean="0"/>
              <a:t>desempenho</a:t>
            </a:r>
            <a:r>
              <a:rPr lang="en-ZA" dirty="0"/>
              <a:t>.</a:t>
            </a:r>
          </a:p>
          <a:p>
            <a:r>
              <a:rPr lang="pt-BR" b="1" dirty="0"/>
              <a:t>b) Vazão </a:t>
            </a:r>
            <a:r>
              <a:rPr lang="pt-BR" dirty="0"/>
              <a:t>(</a:t>
            </a:r>
            <a:r>
              <a:rPr lang="pt-BR" i="1" dirty="0"/>
              <a:t>throughput</a:t>
            </a:r>
            <a:r>
              <a:rPr lang="pt-BR" dirty="0"/>
              <a:t>) – corresponde à quantidade de tarefas </a:t>
            </a:r>
            <a:r>
              <a:rPr lang="pt-BR" dirty="0" smtClean="0"/>
              <a:t>executadas num </a:t>
            </a:r>
            <a:r>
              <a:rPr lang="pt-BR" dirty="0"/>
              <a:t>intervalo de tempo. Normalmente, utilizado para medir a </a:t>
            </a:r>
            <a:r>
              <a:rPr lang="pt-BR" dirty="0" smtClean="0"/>
              <a:t>quantidade de </a:t>
            </a:r>
            <a:r>
              <a:rPr lang="pt-BR" dirty="0"/>
              <a:t>trabalho realizado por um servidor numa empresa, por </a:t>
            </a:r>
            <a:r>
              <a:rPr lang="pt-BR" dirty="0" smtClean="0"/>
              <a:t>exemplo. Quanto </a:t>
            </a:r>
            <a:r>
              <a:rPr lang="pt-BR" dirty="0"/>
              <a:t>maior for a vazão, melhor é o desempenho.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9816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desempenho relativo é obtido dividindo-se o tempo de execução do </a:t>
            </a:r>
            <a:r>
              <a:rPr lang="pt-BR" dirty="0" smtClean="0"/>
              <a:t>computador lento </a:t>
            </a:r>
            <a:r>
              <a:rPr lang="pt-BR" dirty="0"/>
              <a:t>pelo tempo de execução do mais rápido, ou dividindo-se </a:t>
            </a:r>
            <a:r>
              <a:rPr lang="pt-BR" dirty="0" smtClean="0"/>
              <a:t>o índice </a:t>
            </a:r>
            <a:r>
              <a:rPr lang="pt-BR" dirty="0"/>
              <a:t>de desempenho do computador mais rápido pelo índice de </a:t>
            </a:r>
            <a:r>
              <a:rPr lang="pt-BR" dirty="0" smtClean="0"/>
              <a:t>desempenho do </a:t>
            </a:r>
            <a:r>
              <a:rPr lang="pt-BR" dirty="0"/>
              <a:t>mais lento. O resultado obtido, a partir dessa análise, determina o </a:t>
            </a:r>
            <a:r>
              <a:rPr lang="pt-BR" dirty="0" smtClean="0"/>
              <a:t>quanto um </a:t>
            </a:r>
            <a:r>
              <a:rPr lang="pt-BR" dirty="0"/>
              <a:t>computador é mais rápido que outro.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3094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Autofit/>
          </a:bodyPr>
          <a:lstStyle/>
          <a:p>
            <a:r>
              <a:rPr lang="pt-BR" sz="2800" dirty="0"/>
              <a:t>Os fatores que afetam o desempenho dos computadores são</a:t>
            </a:r>
            <a:r>
              <a:rPr lang="pt-BR" sz="2800" dirty="0" smtClean="0"/>
              <a:t>:</a:t>
            </a:r>
            <a:endParaRPr lang="en-ZA" sz="2400" dirty="0" smtClean="0"/>
          </a:p>
          <a:p>
            <a:pPr marL="0" indent="0">
              <a:buNone/>
            </a:pPr>
            <a:r>
              <a:rPr lang="en-ZA" sz="2400" dirty="0" smtClean="0"/>
              <a:t>• </a:t>
            </a:r>
            <a:r>
              <a:rPr lang="en-ZA" sz="2400" dirty="0" err="1"/>
              <a:t>Algoritmo</a:t>
            </a:r>
            <a:r>
              <a:rPr lang="en-ZA" sz="2400" dirty="0"/>
              <a:t> do </a:t>
            </a:r>
            <a:r>
              <a:rPr lang="en-ZA" sz="2400" dirty="0" err="1"/>
              <a:t>programa</a:t>
            </a:r>
            <a:r>
              <a:rPr lang="en-ZA" sz="2400" dirty="0"/>
              <a:t>.</a:t>
            </a:r>
          </a:p>
          <a:p>
            <a:pPr marL="0" indent="0">
              <a:buNone/>
            </a:pPr>
            <a:r>
              <a:rPr lang="en-ZA" sz="2400" dirty="0" smtClean="0"/>
              <a:t>• </a:t>
            </a:r>
            <a:r>
              <a:rPr lang="en-ZA" sz="2400" dirty="0" err="1"/>
              <a:t>Linguagem</a:t>
            </a:r>
            <a:r>
              <a:rPr lang="en-ZA" sz="2400" dirty="0"/>
              <a:t> de </a:t>
            </a:r>
            <a:r>
              <a:rPr lang="en-ZA" sz="2400" dirty="0" err="1"/>
              <a:t>programação</a:t>
            </a:r>
            <a:r>
              <a:rPr lang="en-ZA" sz="2400" dirty="0"/>
              <a:t>.</a:t>
            </a:r>
          </a:p>
          <a:p>
            <a:pPr marL="0" indent="0">
              <a:buNone/>
            </a:pPr>
            <a:r>
              <a:rPr lang="en-ZA" sz="2400" dirty="0"/>
              <a:t>• </a:t>
            </a:r>
            <a:r>
              <a:rPr lang="en-ZA" sz="2400" dirty="0" err="1"/>
              <a:t>Compilador</a:t>
            </a:r>
            <a:r>
              <a:rPr lang="en-ZA" sz="2400" dirty="0"/>
              <a:t>.</a:t>
            </a:r>
          </a:p>
          <a:p>
            <a:pPr marL="0" indent="0">
              <a:buNone/>
            </a:pPr>
            <a:r>
              <a:rPr lang="pt-BR" sz="2400" dirty="0"/>
              <a:t>• Conjunto de instruções do processador.</a:t>
            </a:r>
          </a:p>
          <a:p>
            <a:pPr marL="0" indent="0">
              <a:buNone/>
            </a:pPr>
            <a:r>
              <a:rPr lang="pt-BR" sz="2400" dirty="0"/>
              <a:t>• Organização e tecnologia do processador</a:t>
            </a:r>
            <a:r>
              <a:rPr lang="pt-BR" sz="2400" dirty="0" smtClean="0"/>
              <a:t>.</a:t>
            </a:r>
          </a:p>
          <a:p>
            <a:pPr marL="0" indent="0">
              <a:buNone/>
            </a:pPr>
            <a:r>
              <a:rPr lang="en-ZA" sz="2400" i="1" dirty="0" smtClean="0"/>
              <a:t>• </a:t>
            </a:r>
            <a:r>
              <a:rPr lang="en-ZA" sz="2400" i="1" dirty="0"/>
              <a:t>Clock </a:t>
            </a:r>
            <a:r>
              <a:rPr lang="en-ZA" sz="2400" dirty="0"/>
              <a:t>do </a:t>
            </a:r>
            <a:r>
              <a:rPr lang="en-ZA" sz="2400" dirty="0" err="1"/>
              <a:t>processador</a:t>
            </a:r>
            <a:r>
              <a:rPr lang="en-ZA" sz="2400" dirty="0"/>
              <a:t>.</a:t>
            </a:r>
          </a:p>
          <a:p>
            <a:pPr marL="0" indent="0">
              <a:buNone/>
            </a:pPr>
            <a:r>
              <a:rPr lang="pt-BR" sz="2400" dirty="0"/>
              <a:t>• Tamanho e frequência da memória </a:t>
            </a:r>
            <a:r>
              <a:rPr lang="pt-BR" sz="2400" i="1" dirty="0"/>
              <a:t>cache</a:t>
            </a:r>
            <a:r>
              <a:rPr lang="pt-BR" sz="2400" dirty="0"/>
              <a:t>.</a:t>
            </a:r>
          </a:p>
          <a:p>
            <a:pPr marL="0" indent="0">
              <a:buNone/>
            </a:pPr>
            <a:r>
              <a:rPr lang="pt-BR" sz="2400" dirty="0"/>
              <a:t>• Frequência, latência e canais da memória RAM.</a:t>
            </a:r>
          </a:p>
          <a:p>
            <a:pPr marL="0" indent="0">
              <a:buNone/>
            </a:pPr>
            <a:r>
              <a:rPr lang="pt-BR" sz="2400" dirty="0"/>
              <a:t>• Frequência do barramento do sistema.</a:t>
            </a:r>
          </a:p>
          <a:p>
            <a:pPr marL="0" indent="0">
              <a:buNone/>
            </a:pPr>
            <a:r>
              <a:rPr lang="pt-BR" sz="2400" dirty="0"/>
              <a:t>• Taxa de transferência de dados dos discos.</a:t>
            </a:r>
            <a:r>
              <a:rPr lang="pt-BR" sz="2400" dirty="0" smtClean="0"/>
              <a:t>ão </a:t>
            </a:r>
            <a:r>
              <a:rPr lang="pt-BR" sz="2400" dirty="0"/>
              <a:t>e tecnologia do </a:t>
            </a:r>
            <a:r>
              <a:rPr lang="pt-BR" sz="2400" dirty="0" smtClean="0"/>
              <a:t>processador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66555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b="1" dirty="0" err="1"/>
              <a:t>Atividades</a:t>
            </a:r>
            <a:r>
              <a:rPr lang="en-ZA" b="1" dirty="0"/>
              <a:t> de </a:t>
            </a:r>
            <a:r>
              <a:rPr lang="en-ZA" b="1" dirty="0" err="1" smtClean="0"/>
              <a:t>aprendizagem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 smtClean="0"/>
              <a:t>1</a:t>
            </a:r>
            <a:r>
              <a:rPr lang="pt-BR" b="1" dirty="0"/>
              <a:t>. </a:t>
            </a:r>
            <a:r>
              <a:rPr lang="pt-BR" dirty="0"/>
              <a:t>Onde os dados são processados no computador?</a:t>
            </a:r>
          </a:p>
          <a:p>
            <a:pPr marL="0" indent="0">
              <a:buNone/>
            </a:pPr>
            <a:r>
              <a:rPr lang="pt-BR" b="1" dirty="0"/>
              <a:t>2. </a:t>
            </a:r>
            <a:r>
              <a:rPr lang="pt-BR" dirty="0"/>
              <a:t>Quais as principais técnicas utilizadas nas CPUs que permitiram o </a:t>
            </a:r>
            <a:r>
              <a:rPr lang="pt-BR" dirty="0" smtClean="0"/>
              <a:t>aumento </a:t>
            </a:r>
            <a:r>
              <a:rPr lang="en-ZA" dirty="0" smtClean="0"/>
              <a:t>no </a:t>
            </a:r>
            <a:r>
              <a:rPr lang="en-ZA" dirty="0" err="1"/>
              <a:t>desempenho</a:t>
            </a:r>
            <a:r>
              <a:rPr lang="en-ZA" dirty="0"/>
              <a:t>?</a:t>
            </a:r>
          </a:p>
          <a:p>
            <a:pPr marL="0" indent="0">
              <a:buNone/>
            </a:pPr>
            <a:r>
              <a:rPr lang="pt-BR" b="1" dirty="0"/>
              <a:t>3. </a:t>
            </a:r>
            <a:r>
              <a:rPr lang="pt-BR" dirty="0"/>
              <a:t>Como é possível avaliar o desempenho de um computador?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61342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 smtClean="0"/>
              <a:t>Temas</a:t>
            </a:r>
            <a:r>
              <a:rPr lang="en-ZA" dirty="0" smtClean="0"/>
              <a:t> de </a:t>
            </a:r>
            <a:r>
              <a:rPr lang="en-ZA" dirty="0" err="1" smtClean="0"/>
              <a:t>trabalhos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ZA" dirty="0" smtClean="0"/>
              <a:t>1. </a:t>
            </a:r>
            <a:r>
              <a:rPr lang="en-ZA" dirty="0" err="1" smtClean="0"/>
              <a:t>Conjunto</a:t>
            </a:r>
            <a:r>
              <a:rPr lang="en-ZA" dirty="0" smtClean="0"/>
              <a:t> de </a:t>
            </a:r>
            <a:r>
              <a:rPr lang="en-ZA" dirty="0" err="1" smtClean="0"/>
              <a:t>instrucoes</a:t>
            </a:r>
            <a:endParaRPr lang="en-ZA" dirty="0" smtClean="0"/>
          </a:p>
          <a:p>
            <a:r>
              <a:rPr lang="en-ZA" dirty="0" smtClean="0"/>
              <a:t>1.1. </a:t>
            </a:r>
            <a:r>
              <a:rPr lang="en-ZA" dirty="0" err="1" smtClean="0"/>
              <a:t>caracteristicas</a:t>
            </a:r>
            <a:r>
              <a:rPr lang="en-ZA" dirty="0" smtClean="0"/>
              <a:t> e </a:t>
            </a:r>
            <a:r>
              <a:rPr lang="en-ZA" dirty="0" err="1" smtClean="0"/>
              <a:t>funcoes</a:t>
            </a:r>
            <a:endParaRPr lang="en-ZA" dirty="0" smtClean="0"/>
          </a:p>
          <a:p>
            <a:r>
              <a:rPr lang="en-ZA" dirty="0" smtClean="0"/>
              <a:t>1.2. </a:t>
            </a:r>
            <a:r>
              <a:rPr lang="en-ZA" dirty="0" err="1" smtClean="0"/>
              <a:t>modos</a:t>
            </a:r>
            <a:r>
              <a:rPr lang="en-ZA" dirty="0" smtClean="0"/>
              <a:t> de </a:t>
            </a:r>
            <a:r>
              <a:rPr lang="en-ZA" dirty="0" err="1" smtClean="0"/>
              <a:t>enderecamento</a:t>
            </a:r>
            <a:endParaRPr lang="en-ZA" dirty="0" smtClean="0"/>
          </a:p>
          <a:p>
            <a:r>
              <a:rPr lang="en-ZA" dirty="0" smtClean="0"/>
              <a:t>2. </a:t>
            </a:r>
            <a:r>
              <a:rPr lang="en-ZA" dirty="0" err="1" smtClean="0"/>
              <a:t>Estrutura</a:t>
            </a:r>
            <a:r>
              <a:rPr lang="en-ZA" dirty="0" smtClean="0"/>
              <a:t> e </a:t>
            </a:r>
            <a:r>
              <a:rPr lang="en-ZA" dirty="0" err="1" smtClean="0"/>
              <a:t>funcionamento</a:t>
            </a:r>
            <a:r>
              <a:rPr lang="en-ZA" dirty="0" smtClean="0"/>
              <a:t> da </a:t>
            </a:r>
            <a:r>
              <a:rPr lang="en-ZA" dirty="0" err="1" smtClean="0"/>
              <a:t>cpu</a:t>
            </a:r>
            <a:endParaRPr lang="en-ZA" dirty="0" smtClean="0"/>
          </a:p>
          <a:p>
            <a:r>
              <a:rPr lang="en-ZA" dirty="0" smtClean="0"/>
              <a:t>3. </a:t>
            </a:r>
            <a:r>
              <a:rPr lang="en-ZA" dirty="0" err="1" smtClean="0"/>
              <a:t>Computadores</a:t>
            </a:r>
            <a:r>
              <a:rPr lang="en-ZA" dirty="0" smtClean="0"/>
              <a:t> com um </a:t>
            </a:r>
            <a:r>
              <a:rPr lang="en-ZA" dirty="0" err="1" smtClean="0"/>
              <a:t>conjunto</a:t>
            </a:r>
            <a:r>
              <a:rPr lang="en-ZA" dirty="0" smtClean="0"/>
              <a:t> </a:t>
            </a:r>
            <a:r>
              <a:rPr lang="en-ZA" dirty="0" err="1" smtClean="0"/>
              <a:t>reduzido</a:t>
            </a:r>
            <a:r>
              <a:rPr lang="en-ZA" dirty="0" smtClean="0"/>
              <a:t> de </a:t>
            </a:r>
            <a:r>
              <a:rPr lang="en-ZA" dirty="0" err="1" smtClean="0"/>
              <a:t>instrucoes</a:t>
            </a:r>
            <a:endParaRPr lang="en-ZA" dirty="0" smtClean="0"/>
          </a:p>
          <a:p>
            <a:r>
              <a:rPr lang="en-ZA" dirty="0" smtClean="0"/>
              <a:t>4. </a:t>
            </a:r>
            <a:r>
              <a:rPr lang="en-ZA" dirty="0" err="1" smtClean="0"/>
              <a:t>Paralelismo</a:t>
            </a:r>
            <a:r>
              <a:rPr lang="en-ZA" dirty="0" smtClean="0"/>
              <a:t> no </a:t>
            </a:r>
            <a:r>
              <a:rPr lang="en-ZA" dirty="0" err="1" smtClean="0"/>
              <a:t>nivel</a:t>
            </a:r>
            <a:r>
              <a:rPr lang="en-ZA" dirty="0" smtClean="0"/>
              <a:t> de </a:t>
            </a:r>
            <a:r>
              <a:rPr lang="en-ZA" dirty="0" err="1" smtClean="0"/>
              <a:t>instrucoes</a:t>
            </a:r>
            <a:r>
              <a:rPr lang="en-ZA" dirty="0" smtClean="0"/>
              <a:t> e </a:t>
            </a:r>
            <a:r>
              <a:rPr lang="en-ZA" dirty="0" err="1" smtClean="0"/>
              <a:t>processadores</a:t>
            </a:r>
            <a:r>
              <a:rPr lang="en-ZA" dirty="0" smtClean="0"/>
              <a:t> </a:t>
            </a:r>
            <a:r>
              <a:rPr lang="en-ZA" dirty="0" err="1" smtClean="0"/>
              <a:t>superescalares</a:t>
            </a:r>
            <a:endParaRPr lang="en-ZA" dirty="0" smtClean="0"/>
          </a:p>
          <a:p>
            <a:r>
              <a:rPr lang="en-ZA" dirty="0" smtClean="0"/>
              <a:t>5. </a:t>
            </a:r>
            <a:r>
              <a:rPr lang="en-ZA" dirty="0" err="1" smtClean="0"/>
              <a:t>operacoes</a:t>
            </a:r>
            <a:r>
              <a:rPr lang="en-ZA" dirty="0" smtClean="0"/>
              <a:t> da </a:t>
            </a:r>
            <a:r>
              <a:rPr lang="en-ZA" dirty="0" err="1" smtClean="0"/>
              <a:t>unidade</a:t>
            </a:r>
            <a:r>
              <a:rPr lang="en-ZA" dirty="0" smtClean="0"/>
              <a:t> de </a:t>
            </a:r>
            <a:r>
              <a:rPr lang="en-ZA" dirty="0" err="1" smtClean="0"/>
              <a:t>controle</a:t>
            </a:r>
            <a:endParaRPr lang="en-ZA" dirty="0" smtClean="0"/>
          </a:p>
          <a:p>
            <a:r>
              <a:rPr lang="en-ZA" dirty="0" smtClean="0"/>
              <a:t>6. </a:t>
            </a:r>
            <a:r>
              <a:rPr lang="en-ZA" dirty="0" err="1" smtClean="0"/>
              <a:t>Processamento</a:t>
            </a:r>
            <a:r>
              <a:rPr lang="en-ZA" dirty="0" smtClean="0"/>
              <a:t> </a:t>
            </a:r>
            <a:r>
              <a:rPr lang="en-ZA" dirty="0" err="1" smtClean="0"/>
              <a:t>paralelo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70264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/>
              <a:t>l</a:t>
            </a:r>
            <a:r>
              <a:rPr lang="en-ZA" smtClean="0"/>
              <a:t>ucio.bonifacio2011@gmail.com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592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2058</TotalTime>
  <Words>1858</Words>
  <Application>Microsoft Office PowerPoint</Application>
  <PresentationFormat>On-screen Show (4:3)</PresentationFormat>
  <Paragraphs>103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Processador</vt:lpstr>
      <vt:lpstr>Unidade central de processamento</vt:lpstr>
      <vt:lpstr>PowerPoint Presentation</vt:lpstr>
      <vt:lpstr>PowerPoint Presentation</vt:lpstr>
      <vt:lpstr>PowerPoint Presentation</vt:lpstr>
      <vt:lpstr>Componentes do processador</vt:lpstr>
      <vt:lpstr>Unidade de controle</vt:lpstr>
      <vt:lpstr>Unidade lógica e aritmética</vt:lpstr>
      <vt:lpstr>Registradores</vt:lpstr>
      <vt:lpstr>PowerPoint Presentation</vt:lpstr>
      <vt:lpstr>PowerPoint Presentation</vt:lpstr>
      <vt:lpstr>Barramentos</vt:lpstr>
      <vt:lpstr>Implementação da CPU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Evolução dos processadores</vt:lpstr>
      <vt:lpstr>PowerPoint Presentation</vt:lpstr>
      <vt:lpstr>PowerPoint Presentation</vt:lpstr>
      <vt:lpstr>PowerPoint Presentation</vt:lpstr>
      <vt:lpstr>Avaliação de desempenho</vt:lpstr>
      <vt:lpstr>PowerPoint Presentation</vt:lpstr>
      <vt:lpstr>PowerPoint Presentation</vt:lpstr>
      <vt:lpstr>Atividades de aprendizagem</vt:lpstr>
      <vt:lpstr>Temas de trabalhos</vt:lpstr>
      <vt:lpstr>PowerPoint Presentation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Evolução da arquitetura de computadores</dc:title>
  <dc:creator>USER</dc:creator>
  <cp:lastModifiedBy>USER</cp:lastModifiedBy>
  <cp:revision>44</cp:revision>
  <dcterms:created xsi:type="dcterms:W3CDTF">2016-07-14T11:44:37Z</dcterms:created>
  <dcterms:modified xsi:type="dcterms:W3CDTF">2016-08-04T09:53:20Z</dcterms:modified>
</cp:coreProperties>
</file>