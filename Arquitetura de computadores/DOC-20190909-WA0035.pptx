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527" autoAdjust="0"/>
  </p:normalViewPr>
  <p:slideViewPr>
    <p:cSldViewPr>
      <p:cViewPr>
        <p:scale>
          <a:sx n="100" d="100"/>
          <a:sy n="100" d="100"/>
        </p:scale>
        <p:origin x="-72" y="12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901B6-F723-4292-83C2-CB45126CF40C}" type="datetimeFigureOut">
              <a:rPr lang="en-ZA" smtClean="0"/>
              <a:t>2016-08-04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38CE0-2F3E-407B-8C20-54358136DC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0742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65FB7-A56D-4F4D-9016-1FE5B44CFF13}" type="datetime1">
              <a:rPr lang="en-ZA" smtClean="0"/>
              <a:t>2016-08-04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6599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0F5B5-A501-43AE-BE99-4EEF5934F966}" type="datetime1">
              <a:rPr lang="en-ZA" smtClean="0"/>
              <a:t>2016-08-04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4372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97399-4B7F-4A48-896E-9455A307F73B}" type="datetime1">
              <a:rPr lang="en-ZA" smtClean="0"/>
              <a:t>2016-08-04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9143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D774-658C-4CC7-BFFA-667ADA0604D1}" type="datetime1">
              <a:rPr lang="en-ZA" smtClean="0"/>
              <a:t>2016-08-04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055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A854A-1D42-423D-8923-EEDBC09FF55B}" type="datetime1">
              <a:rPr lang="en-ZA" smtClean="0"/>
              <a:t>2016-08-04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8950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791C8-9F8C-4983-9213-269FD95DF91C}" type="datetime1">
              <a:rPr lang="en-ZA" smtClean="0"/>
              <a:t>2016-08-04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4795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D232-3FFC-4BEB-9EB7-62FA38C38007}" type="datetime1">
              <a:rPr lang="en-ZA" smtClean="0"/>
              <a:t>2016-08-04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2356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FDF4-CCEA-49D5-A2BF-6D487C9F67AF}" type="datetime1">
              <a:rPr lang="en-ZA" smtClean="0"/>
              <a:t>2016-08-04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80560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D8BD-95DF-4786-9DE9-B5D1A0DA893E}" type="datetime1">
              <a:rPr lang="en-ZA" smtClean="0"/>
              <a:t>2016-08-04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8380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C5217-0893-4579-9404-DD88D275EAB0}" type="datetime1">
              <a:rPr lang="en-ZA" smtClean="0"/>
              <a:t>2016-08-04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3961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09DE9-8382-4794-B2C4-85BCFF5882E9}" type="datetime1">
              <a:rPr lang="en-ZA" smtClean="0"/>
              <a:t>2016-08-04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278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4758A-F2B2-478C-84DC-842B7202E48E}" type="datetime1">
              <a:rPr lang="en-ZA" smtClean="0"/>
              <a:t>2016-08-04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83654"/>
            <a:ext cx="924703" cy="86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67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980728"/>
            <a:ext cx="7772400" cy="1470025"/>
          </a:xfrm>
        </p:spPr>
        <p:txBody>
          <a:bodyPr/>
          <a:lstStyle/>
          <a:p>
            <a:pPr fontAlgn="base"/>
            <a:r>
              <a:rPr lang="pt-PT" b="1" dirty="0"/>
              <a:t>A</a:t>
            </a:r>
            <a:r>
              <a:rPr lang="pt-PT" b="1" dirty="0" smtClean="0"/>
              <a:t>rquitetura </a:t>
            </a:r>
            <a:r>
              <a:rPr lang="pt-PT" b="1" dirty="0"/>
              <a:t>de</a:t>
            </a:r>
            <a:r>
              <a:rPr lang="en-ZA" dirty="0"/>
              <a:t/>
            </a:r>
            <a:br>
              <a:rPr lang="en-ZA" dirty="0"/>
            </a:br>
            <a:r>
              <a:rPr lang="pt-PT" b="1" dirty="0"/>
              <a:t>computadores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2996952"/>
            <a:ext cx="7416824" cy="3240360"/>
          </a:xfrm>
        </p:spPr>
        <p:txBody>
          <a:bodyPr>
            <a:normAutofit/>
          </a:bodyPr>
          <a:lstStyle/>
          <a:p>
            <a:pPr fontAlgn="base"/>
            <a:r>
              <a:rPr lang="pt-PT" b="1" dirty="0"/>
              <a:t>Objetivos</a:t>
            </a:r>
            <a:endParaRPr lang="en-ZA" dirty="0"/>
          </a:p>
          <a:p>
            <a:r>
              <a:rPr lang="pt-BR" dirty="0" smtClean="0"/>
              <a:t>Compreender </a:t>
            </a:r>
            <a:r>
              <a:rPr lang="pt-BR" dirty="0"/>
              <a:t>os conceitos básicos relacionados aos computadores,</a:t>
            </a:r>
          </a:p>
          <a:p>
            <a:r>
              <a:rPr lang="pt-BR" dirty="0"/>
              <a:t>seus componentes e à forma como os programas são executados.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82520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Computador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Um computador é uma máquina composta de partes eletrônicas e </a:t>
            </a:r>
            <a:r>
              <a:rPr lang="pt-BR" dirty="0" smtClean="0"/>
              <a:t>eletromecânicas (</a:t>
            </a:r>
            <a:r>
              <a:rPr lang="pt-BR" b="1" i="1" dirty="0" smtClean="0"/>
              <a:t>hardware</a:t>
            </a:r>
            <a:r>
              <a:rPr lang="pt-BR" dirty="0"/>
              <a:t>) capaz de coletar, manipular e fornecer os resultados </a:t>
            </a:r>
            <a:r>
              <a:rPr lang="pt-BR" dirty="0" smtClean="0"/>
              <a:t>de informações </a:t>
            </a:r>
            <a:r>
              <a:rPr lang="pt-BR" dirty="0"/>
              <a:t>para um ou mais objetivos</a:t>
            </a:r>
            <a:r>
              <a:rPr lang="pt-BR" dirty="0" smtClean="0"/>
              <a:t>.</a:t>
            </a:r>
          </a:p>
          <a:p>
            <a:r>
              <a:rPr lang="pt-BR" dirty="0"/>
              <a:t>Para ser considerado um computador ele precisa ter processador, </a:t>
            </a:r>
            <a:r>
              <a:rPr lang="pt-BR" dirty="0" smtClean="0"/>
              <a:t>memória e </a:t>
            </a:r>
            <a:r>
              <a:rPr lang="pt-BR" dirty="0"/>
              <a:t>dispositivos de entrada e/ou saída, que podem ser utilizados de </a:t>
            </a:r>
            <a:r>
              <a:rPr lang="pt-BR" dirty="0" smtClean="0"/>
              <a:t>modo eficiente </a:t>
            </a:r>
            <a:r>
              <a:rPr lang="pt-BR" dirty="0"/>
              <a:t>na solução dos tipos de problemas os quais possuem uma </a:t>
            </a:r>
            <a:r>
              <a:rPr lang="pt-BR" dirty="0" smtClean="0"/>
              <a:t>grande complexidade </a:t>
            </a:r>
            <a:r>
              <a:rPr lang="pt-BR" dirty="0"/>
              <a:t>ou um grande volume de dados.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475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/>
          <a:lstStyle/>
          <a:p>
            <a:r>
              <a:rPr lang="pt-BR" dirty="0"/>
              <a:t>A arquitetura de computadores se refere ao comportamento de um </a:t>
            </a:r>
            <a:r>
              <a:rPr lang="pt-BR" dirty="0" smtClean="0"/>
              <a:t>sistema computacional </a:t>
            </a:r>
            <a:r>
              <a:rPr lang="pt-BR" dirty="0"/>
              <a:t>visível para o programador, </a:t>
            </a:r>
            <a:r>
              <a:rPr lang="pt-BR" dirty="0" smtClean="0"/>
              <a:t>ou seja</a:t>
            </a:r>
            <a:r>
              <a:rPr lang="pt-BR" dirty="0"/>
              <a:t>, aos aspectos </a:t>
            </a:r>
            <a:r>
              <a:rPr lang="pt-BR" dirty="0" smtClean="0"/>
              <a:t>relacionados com </a:t>
            </a:r>
            <a:r>
              <a:rPr lang="pt-BR" dirty="0"/>
              <a:t>a execução lógica de um programa. A organização de computadores </a:t>
            </a:r>
            <a:r>
              <a:rPr lang="pt-BR" dirty="0" smtClean="0"/>
              <a:t>se refere </a:t>
            </a:r>
            <a:r>
              <a:rPr lang="pt-BR" dirty="0"/>
              <a:t>às unidades estruturais e seus relacionamentos lógicos e eletrônicos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505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Os computadores eletrônicos digitais recebem essa denominação </a:t>
            </a:r>
            <a:r>
              <a:rPr lang="pt-BR" dirty="0" smtClean="0"/>
              <a:t>porque são </a:t>
            </a:r>
            <a:r>
              <a:rPr lang="pt-BR" dirty="0"/>
              <a:t>desenvolvidos a partir de circuitos eletrônicos e são capazes de </a:t>
            </a:r>
            <a:r>
              <a:rPr lang="pt-BR" dirty="0" smtClean="0"/>
              <a:t>realizar cálculos</a:t>
            </a:r>
            <a:r>
              <a:rPr lang="pt-BR" dirty="0"/>
              <a:t>, operações lógicas e movimentação de dados entre o </a:t>
            </a:r>
            <a:r>
              <a:rPr lang="pt-BR" dirty="0" smtClean="0"/>
              <a:t>processador, seus </a:t>
            </a:r>
            <a:r>
              <a:rPr lang="pt-BR" dirty="0"/>
              <a:t>dispositivos de armazenamento e de entrada e saída</a:t>
            </a:r>
            <a:r>
              <a:rPr lang="pt-BR" dirty="0" smtClean="0"/>
              <a:t>.</a:t>
            </a:r>
          </a:p>
          <a:p>
            <a:r>
              <a:rPr lang="pt-BR" dirty="0"/>
              <a:t>Os sistemas digitais, em seu nível mais baixo, representam as </a:t>
            </a:r>
            <a:r>
              <a:rPr lang="pt-BR" dirty="0" smtClean="0"/>
              <a:t>informações somente </a:t>
            </a:r>
            <a:r>
              <a:rPr lang="pt-BR" dirty="0"/>
              <a:t>através de dígitos. Num nível mais alto, estes dígitos </a:t>
            </a:r>
            <a:r>
              <a:rPr lang="pt-BR" dirty="0" smtClean="0"/>
              <a:t>codificados formam </a:t>
            </a:r>
            <a:r>
              <a:rPr lang="pt-BR" dirty="0"/>
              <a:t>diferentes combinações capazes de representar qualquer tipo </a:t>
            </a:r>
            <a:r>
              <a:rPr lang="pt-BR" dirty="0" smtClean="0"/>
              <a:t>de </a:t>
            </a:r>
            <a:r>
              <a:rPr lang="en-ZA" dirty="0" err="1" smtClean="0"/>
              <a:t>informação</a:t>
            </a:r>
            <a:r>
              <a:rPr lang="en-ZA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80622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r>
              <a:rPr lang="pt-BR" dirty="0"/>
              <a:t>As informações normalmente são representadas internamente por </a:t>
            </a:r>
            <a:r>
              <a:rPr lang="pt-BR" dirty="0" smtClean="0"/>
              <a:t>sinais elétricos </a:t>
            </a:r>
            <a:r>
              <a:rPr lang="pt-BR" dirty="0"/>
              <a:t>binários que podem ser somente os valores 0 ou 1, </a:t>
            </a:r>
            <a:r>
              <a:rPr lang="pt-BR" dirty="0" smtClean="0"/>
              <a:t>correspondendo a </a:t>
            </a:r>
            <a:r>
              <a:rPr lang="pt-BR" dirty="0"/>
              <a:t>estar ligado ou desligado, ter energia ou não num circuito, onde 5 </a:t>
            </a:r>
            <a:r>
              <a:rPr lang="pt-BR" dirty="0" smtClean="0"/>
              <a:t>volts representam </a:t>
            </a:r>
            <a:r>
              <a:rPr lang="pt-BR" dirty="0"/>
              <a:t>o dígito 1 e 0 volt representa o dígito 0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endParaRPr lang="pt-BR" sz="1800" i="1" dirty="0" smtClean="0"/>
          </a:p>
          <a:p>
            <a:pPr marL="0" indent="0">
              <a:buNone/>
            </a:pPr>
            <a:endParaRPr lang="pt-BR" sz="1800" i="1" dirty="0" smtClean="0"/>
          </a:p>
          <a:p>
            <a:pPr marL="0" indent="0">
              <a:buNone/>
            </a:pPr>
            <a:endParaRPr lang="pt-BR" sz="1800" i="1" dirty="0"/>
          </a:p>
          <a:p>
            <a:pPr marL="0" indent="0">
              <a:buNone/>
            </a:pPr>
            <a:endParaRPr lang="pt-BR" sz="1800" i="1" dirty="0" smtClean="0"/>
          </a:p>
          <a:p>
            <a:pPr marL="0" indent="0">
              <a:buNone/>
            </a:pPr>
            <a:r>
              <a:rPr lang="pt-BR" sz="1800" i="1" dirty="0" smtClean="0"/>
              <a:t>NB: </a:t>
            </a:r>
            <a:r>
              <a:rPr lang="pt-BR" sz="1800" i="1" dirty="0"/>
              <a:t>Desta forma, o computador digital é um sistema digital binário, pois a </a:t>
            </a:r>
            <a:r>
              <a:rPr lang="pt-BR" sz="1800" i="1" dirty="0" smtClean="0"/>
              <a:t>informação é </a:t>
            </a:r>
            <a:r>
              <a:rPr lang="pt-BR" sz="1800" i="1" dirty="0"/>
              <a:t>representada nele somente através dos dígitos binários 0 e 1.</a:t>
            </a:r>
            <a:endParaRPr lang="en-ZA" sz="1800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01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600" dirty="0"/>
              <a:t>Um computador é capaz de realizar basicamente quatro operações</a:t>
            </a:r>
            <a:endParaRPr lang="en-ZA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b="1" dirty="0"/>
              <a:t>a) </a:t>
            </a:r>
            <a:r>
              <a:rPr lang="en-ZA" dirty="0" err="1"/>
              <a:t>Processamento</a:t>
            </a:r>
            <a:r>
              <a:rPr lang="en-ZA" dirty="0"/>
              <a:t> de dados.</a:t>
            </a:r>
          </a:p>
          <a:p>
            <a:r>
              <a:rPr lang="en-ZA" b="1" dirty="0"/>
              <a:t>b) </a:t>
            </a:r>
            <a:r>
              <a:rPr lang="en-ZA" dirty="0" err="1"/>
              <a:t>Armazenamento</a:t>
            </a:r>
            <a:r>
              <a:rPr lang="en-ZA" dirty="0"/>
              <a:t> de dados.</a:t>
            </a:r>
          </a:p>
          <a:p>
            <a:r>
              <a:rPr lang="en-ZA" b="1" dirty="0"/>
              <a:t>c) </a:t>
            </a:r>
            <a:r>
              <a:rPr lang="en-ZA" dirty="0" err="1"/>
              <a:t>Movimentação</a:t>
            </a:r>
            <a:r>
              <a:rPr lang="en-ZA" dirty="0"/>
              <a:t> de dados.</a:t>
            </a:r>
          </a:p>
          <a:p>
            <a:r>
              <a:rPr lang="en-ZA" b="1" dirty="0"/>
              <a:t>d) </a:t>
            </a:r>
            <a:r>
              <a:rPr lang="en-ZA" dirty="0" err="1"/>
              <a:t>Controle</a:t>
            </a:r>
            <a:r>
              <a:rPr lang="en-ZA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7204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O computador é o responsável por processar os dados e transformá-los </a:t>
            </a:r>
            <a:r>
              <a:rPr lang="pt-BR" dirty="0" smtClean="0"/>
              <a:t>em informação</a:t>
            </a:r>
            <a:r>
              <a:rPr lang="pt-BR" dirty="0"/>
              <a:t>, através da execução de instruções em </a:t>
            </a:r>
            <a:r>
              <a:rPr lang="pt-BR" b="1" dirty="0"/>
              <a:t>linguagem de </a:t>
            </a:r>
            <a:r>
              <a:rPr lang="pt-BR" b="1" dirty="0" smtClean="0"/>
              <a:t>máquina </a:t>
            </a:r>
            <a:r>
              <a:rPr lang="pt-BR" dirty="0" smtClean="0"/>
              <a:t>(baixo </a:t>
            </a:r>
            <a:r>
              <a:rPr lang="pt-BR" dirty="0"/>
              <a:t>nível) que o processador é capaz de executar.</a:t>
            </a:r>
          </a:p>
          <a:p>
            <a:r>
              <a:rPr lang="pt-BR" dirty="0"/>
              <a:t>Para que um problema possa ser resolvido pelo computador, é </a:t>
            </a:r>
            <a:r>
              <a:rPr lang="pt-BR" dirty="0" smtClean="0"/>
              <a:t>necessário criar </a:t>
            </a:r>
            <a:r>
              <a:rPr lang="pt-BR" dirty="0"/>
              <a:t>um algoritmo computacional, composto por uma sequência de </a:t>
            </a:r>
            <a:r>
              <a:rPr lang="pt-BR" dirty="0" smtClean="0"/>
              <a:t>passos ou </a:t>
            </a:r>
            <a:r>
              <a:rPr lang="pt-BR" dirty="0"/>
              <a:t>ações que determinam a solução do problema e a respectiva </a:t>
            </a:r>
            <a:r>
              <a:rPr lang="pt-BR" dirty="0" smtClean="0"/>
              <a:t>codificação, usando </a:t>
            </a:r>
            <a:r>
              <a:rPr lang="pt-BR" dirty="0"/>
              <a:t>uma linguagem de alto nível, que é mais fácil de ser escrita. </a:t>
            </a:r>
            <a:r>
              <a:rPr lang="pt-BR" dirty="0" smtClean="0"/>
              <a:t>Essa codificação </a:t>
            </a:r>
            <a:r>
              <a:rPr lang="pt-BR" dirty="0"/>
              <a:t>transforma o algoritmo num programa (</a:t>
            </a:r>
            <a:r>
              <a:rPr lang="pt-BR" b="1" i="1" dirty="0"/>
              <a:t>software</a:t>
            </a:r>
            <a:r>
              <a:rPr lang="pt-BR" dirty="0"/>
              <a:t>).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441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Autofit/>
          </a:bodyPr>
          <a:lstStyle/>
          <a:p>
            <a:r>
              <a:rPr lang="pt-BR" sz="2800" dirty="0"/>
              <a:t>As principais etapas de um algoritmo para a </a:t>
            </a:r>
            <a:r>
              <a:rPr lang="pt-BR" sz="2800" dirty="0" smtClean="0"/>
              <a:t>obtenção de </a:t>
            </a:r>
            <a:r>
              <a:rPr lang="pt-BR" sz="2800" dirty="0"/>
              <a:t>uma solução </a:t>
            </a:r>
            <a:r>
              <a:rPr lang="pt-BR" sz="2800" dirty="0" smtClean="0"/>
              <a:t>computacional </a:t>
            </a:r>
            <a:r>
              <a:rPr lang="en-ZA" sz="2800" dirty="0" err="1" smtClean="0"/>
              <a:t>são</a:t>
            </a:r>
            <a:r>
              <a:rPr lang="en-ZA" sz="2800" dirty="0" smtClean="0"/>
              <a:t>:</a:t>
            </a:r>
            <a:endParaRPr lang="en-ZA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 smtClean="0"/>
              <a:t>a</a:t>
            </a:r>
            <a:r>
              <a:rPr lang="pt-BR" b="1" dirty="0"/>
              <a:t>) </a:t>
            </a:r>
            <a:r>
              <a:rPr lang="pt-BR" dirty="0"/>
              <a:t>Elaboração do algoritmo computacional referente ao problema.</a:t>
            </a:r>
          </a:p>
          <a:p>
            <a:r>
              <a:rPr lang="pt-BR" b="1" dirty="0"/>
              <a:t>b) </a:t>
            </a:r>
            <a:r>
              <a:rPr lang="pt-BR" dirty="0"/>
              <a:t>Codificação do algoritmo numa linguagem de alto nível (programa fonte).</a:t>
            </a:r>
          </a:p>
          <a:p>
            <a:r>
              <a:rPr lang="pt-BR" b="1" dirty="0"/>
              <a:t>c) </a:t>
            </a:r>
            <a:r>
              <a:rPr lang="pt-BR" dirty="0"/>
              <a:t>Tradução ou compilação do programa fonte para o código </a:t>
            </a:r>
            <a:r>
              <a:rPr lang="pt-BR" dirty="0" smtClean="0"/>
              <a:t>correspondente em </a:t>
            </a:r>
            <a:r>
              <a:rPr lang="pt-BR" dirty="0"/>
              <a:t>linguagem de máquina (programa objeto).</a:t>
            </a:r>
          </a:p>
          <a:p>
            <a:r>
              <a:rPr lang="pt-BR" b="1" dirty="0"/>
              <a:t>d) </a:t>
            </a:r>
            <a:r>
              <a:rPr lang="pt-BR" dirty="0"/>
              <a:t>Execução do programa objeto (executável) pelo computador.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942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Níveis</a:t>
            </a:r>
            <a:r>
              <a:rPr lang="en-ZA" dirty="0"/>
              <a:t> das </a:t>
            </a:r>
            <a:r>
              <a:rPr lang="en-ZA" dirty="0" err="1"/>
              <a:t>máquinas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sistema computacional é um sistema complexo que pode ser visto </a:t>
            </a:r>
            <a:r>
              <a:rPr lang="pt-BR" dirty="0" smtClean="0"/>
              <a:t>sob diferentes </a:t>
            </a:r>
            <a:r>
              <a:rPr lang="pt-BR" dirty="0"/>
              <a:t>perspectivas ou níveis, desde o nível mais alto (do usuário) até </a:t>
            </a:r>
            <a:r>
              <a:rPr lang="pt-BR" dirty="0" smtClean="0"/>
              <a:t>o nível </a:t>
            </a:r>
            <a:r>
              <a:rPr lang="pt-BR" dirty="0"/>
              <a:t>mais baixo (dos transistores).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1434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r>
              <a:rPr lang="pt-BR" dirty="0"/>
              <a:t>Um computador é projetado como uma série de níveis, e cada um deles </a:t>
            </a:r>
            <a:r>
              <a:rPr lang="pt-BR" dirty="0" smtClean="0"/>
              <a:t>é construído </a:t>
            </a:r>
            <a:r>
              <a:rPr lang="pt-BR" dirty="0"/>
              <a:t>sobre seus antecessores. Nesse modelo, cada nível </a:t>
            </a:r>
            <a:r>
              <a:rPr lang="pt-BR" dirty="0" smtClean="0"/>
              <a:t>representa uma </a:t>
            </a:r>
            <a:r>
              <a:rPr lang="pt-BR" dirty="0"/>
              <a:t>abstração do subsequente. Ao utilizar um determinado nível não há </a:t>
            </a:r>
            <a:r>
              <a:rPr lang="pt-BR" dirty="0" smtClean="0"/>
              <a:t>a necessidade </a:t>
            </a:r>
            <a:r>
              <a:rPr lang="pt-BR" dirty="0"/>
              <a:t>de saber como o nível abaixo funciona, apenas é necessário </a:t>
            </a:r>
            <a:r>
              <a:rPr lang="pt-BR" dirty="0" smtClean="0"/>
              <a:t>saber o </a:t>
            </a:r>
            <a:r>
              <a:rPr lang="pt-BR" dirty="0"/>
              <a:t>que se pode fazer com as funcionalidades que o nível oferece.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409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600" dirty="0"/>
              <a:t>Os computadores modernos são organizados normalmente em vários níveis</a:t>
            </a:r>
            <a:endParaRPr lang="en-ZA" sz="36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84784"/>
            <a:ext cx="6222706" cy="5090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747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85000" lnSpcReduction="20000"/>
          </a:bodyPr>
          <a:lstStyle/>
          <a:p>
            <a:r>
              <a:rPr lang="pt-BR" b="1" dirty="0"/>
              <a:t>a) Nível do usuário ou programa aplicativo </a:t>
            </a:r>
            <a:r>
              <a:rPr lang="pt-BR" dirty="0"/>
              <a:t>– nele o usuário </a:t>
            </a:r>
            <a:r>
              <a:rPr lang="pt-BR" dirty="0" smtClean="0"/>
              <a:t>interage com </a:t>
            </a:r>
            <a:r>
              <a:rPr lang="pt-BR" dirty="0"/>
              <a:t>o computador usando programas como editores de texto, </a:t>
            </a:r>
            <a:r>
              <a:rPr lang="pt-BR" dirty="0" smtClean="0"/>
              <a:t>planilhas, jogos </a:t>
            </a:r>
            <a:r>
              <a:rPr lang="pt-BR" dirty="0"/>
              <a:t>ou programas que acessam a internet.</a:t>
            </a:r>
          </a:p>
          <a:p>
            <a:r>
              <a:rPr lang="pt-BR" b="1" dirty="0"/>
              <a:t>b) Nível da linguagem de alto nível </a:t>
            </a:r>
            <a:r>
              <a:rPr lang="pt-BR" dirty="0"/>
              <a:t>– nesse nível o programador </a:t>
            </a:r>
            <a:r>
              <a:rPr lang="pt-BR" dirty="0" smtClean="0"/>
              <a:t>desenvolve os </a:t>
            </a:r>
            <a:r>
              <a:rPr lang="pt-BR" dirty="0"/>
              <a:t>programas, aplicativos e sistemas através de uma linguagem </a:t>
            </a:r>
            <a:r>
              <a:rPr lang="pt-BR" dirty="0" smtClean="0"/>
              <a:t>de programação </a:t>
            </a:r>
            <a:r>
              <a:rPr lang="pt-BR" dirty="0"/>
              <a:t>de alto nível como C, Java ou Pascal (Delphi).</a:t>
            </a:r>
          </a:p>
          <a:p>
            <a:r>
              <a:rPr lang="pt-BR" b="1" dirty="0"/>
              <a:t>c) Nível da linguagem de montagem </a:t>
            </a:r>
            <a:r>
              <a:rPr lang="pt-BR" dirty="0"/>
              <a:t>(de máquina) – esse é o nível </a:t>
            </a:r>
            <a:r>
              <a:rPr lang="pt-BR" dirty="0" smtClean="0"/>
              <a:t>onde as </a:t>
            </a:r>
            <a:r>
              <a:rPr lang="pt-BR" dirty="0"/>
              <a:t>instruções são interpretadas e executadas pelo processador. Os </a:t>
            </a:r>
            <a:r>
              <a:rPr lang="pt-BR" dirty="0" smtClean="0"/>
              <a:t>programas desenvolvidos </a:t>
            </a:r>
            <a:r>
              <a:rPr lang="pt-BR" dirty="0"/>
              <a:t>em linguagens de alto nível são traduzidos </a:t>
            </a:r>
            <a:r>
              <a:rPr lang="pt-BR" dirty="0" smtClean="0"/>
              <a:t>para uma </a:t>
            </a:r>
            <a:r>
              <a:rPr lang="pt-BR" dirty="0"/>
              <a:t>linguagem de montagem ou Assembler, que apresenta um </a:t>
            </a:r>
            <a:r>
              <a:rPr lang="pt-BR" dirty="0" smtClean="0"/>
              <a:t>relacionamento direto </a:t>
            </a:r>
            <a:r>
              <a:rPr lang="pt-BR" dirty="0"/>
              <a:t>com as instruções que o processador consegue executar.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04121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70000" lnSpcReduction="20000"/>
          </a:bodyPr>
          <a:lstStyle/>
          <a:p>
            <a:r>
              <a:rPr lang="pt-BR" b="1" dirty="0"/>
              <a:t>d) Nível de controle </a:t>
            </a:r>
            <a:r>
              <a:rPr lang="pt-BR" dirty="0"/>
              <a:t>– aqui a unidade de controle, que está dentro do </a:t>
            </a:r>
            <a:r>
              <a:rPr lang="pt-BR" dirty="0" smtClean="0"/>
              <a:t>processador, efetua </a:t>
            </a:r>
            <a:r>
              <a:rPr lang="pt-BR" dirty="0"/>
              <a:t>as devidas transferências de dados entre os </a:t>
            </a:r>
            <a:r>
              <a:rPr lang="pt-BR" dirty="0" smtClean="0"/>
              <a:t>registradores, memória </a:t>
            </a:r>
            <a:r>
              <a:rPr lang="pt-BR" dirty="0"/>
              <a:t>e dispositivos de entrada e saída. Essa transferência é </a:t>
            </a:r>
            <a:r>
              <a:rPr lang="pt-BR" dirty="0" smtClean="0"/>
              <a:t>feita através </a:t>
            </a:r>
            <a:r>
              <a:rPr lang="pt-BR" dirty="0"/>
              <a:t>de sinais de controle por um circuito lógico</a:t>
            </a:r>
            <a:r>
              <a:rPr lang="pt-BR" dirty="0" smtClean="0"/>
              <a:t>.</a:t>
            </a:r>
          </a:p>
          <a:p>
            <a:r>
              <a:rPr lang="pt-BR" b="1" dirty="0"/>
              <a:t>e) Nível de unidades funcionais </a:t>
            </a:r>
            <a:r>
              <a:rPr lang="pt-BR" dirty="0"/>
              <a:t>– nesse nível os registradores </a:t>
            </a:r>
            <a:r>
              <a:rPr lang="pt-BR" dirty="0" smtClean="0"/>
              <a:t>internos da </a:t>
            </a:r>
            <a:r>
              <a:rPr lang="pt-BR" dirty="0"/>
              <a:t>CPU, a unidade lógica e aritmética e, a memória do computador </a:t>
            </a:r>
            <a:r>
              <a:rPr lang="pt-BR" dirty="0" smtClean="0"/>
              <a:t>é organizada </a:t>
            </a:r>
            <a:r>
              <a:rPr lang="pt-BR" dirty="0"/>
              <a:t>sob a forma de unidades funcionais, de acordo com a </a:t>
            </a:r>
            <a:r>
              <a:rPr lang="pt-BR" dirty="0" smtClean="0"/>
              <a:t>função que </a:t>
            </a:r>
            <a:r>
              <a:rPr lang="pt-BR" dirty="0"/>
              <a:t>desempenham para realizar as transferências de dados entre </a:t>
            </a:r>
            <a:r>
              <a:rPr lang="pt-BR" dirty="0" smtClean="0"/>
              <a:t>estas </a:t>
            </a:r>
            <a:r>
              <a:rPr lang="en-ZA" dirty="0" err="1" smtClean="0"/>
              <a:t>unidades</a:t>
            </a:r>
            <a:r>
              <a:rPr lang="en-ZA" dirty="0" smtClean="0"/>
              <a:t> </a:t>
            </a:r>
            <a:r>
              <a:rPr lang="en-ZA" dirty="0" err="1"/>
              <a:t>funcionais</a:t>
            </a:r>
            <a:r>
              <a:rPr lang="en-ZA" dirty="0"/>
              <a:t>.</a:t>
            </a:r>
          </a:p>
          <a:p>
            <a:r>
              <a:rPr lang="pt-BR" b="1" dirty="0"/>
              <a:t>f) Portas lógicas </a:t>
            </a:r>
            <a:r>
              <a:rPr lang="pt-BR" dirty="0"/>
              <a:t>– as portas lógicas implementam o nível mais baixo </a:t>
            </a:r>
            <a:r>
              <a:rPr lang="pt-BR" dirty="0" smtClean="0"/>
              <a:t>de funcionamento </a:t>
            </a:r>
            <a:r>
              <a:rPr lang="pt-BR" dirty="0"/>
              <a:t>de um computador. As unidades funcionais do </a:t>
            </a:r>
            <a:r>
              <a:rPr lang="pt-BR" dirty="0" smtClean="0"/>
              <a:t>computador são </a:t>
            </a:r>
            <a:r>
              <a:rPr lang="pt-BR" dirty="0"/>
              <a:t>desenvolvidas usando portas lógicas.</a:t>
            </a:r>
          </a:p>
          <a:p>
            <a:r>
              <a:rPr lang="pt-BR" b="1" dirty="0"/>
              <a:t>g) Transistores e fios </a:t>
            </a:r>
            <a:r>
              <a:rPr lang="pt-BR" dirty="0"/>
              <a:t>– este é o nível mais baixo do computador </a:t>
            </a:r>
            <a:r>
              <a:rPr lang="pt-BR" dirty="0" smtClean="0"/>
              <a:t>formado por </a:t>
            </a:r>
            <a:r>
              <a:rPr lang="pt-BR" dirty="0"/>
              <a:t>componentes eletrônicos e fios. As portas lógicas são </a:t>
            </a:r>
            <a:r>
              <a:rPr lang="pt-BR" dirty="0" smtClean="0"/>
              <a:t>implementadas usando </a:t>
            </a:r>
            <a:r>
              <a:rPr lang="pt-BR" dirty="0"/>
              <a:t>transistores e fios de conexão.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0781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Sistema</a:t>
            </a:r>
            <a:r>
              <a:rPr lang="en-ZA" dirty="0"/>
              <a:t> de </a:t>
            </a:r>
            <a:r>
              <a:rPr lang="en-ZA" dirty="0" err="1"/>
              <a:t>computador</a:t>
            </a:r>
            <a:r>
              <a:rPr lang="en-ZA" dirty="0"/>
              <a:t> </a:t>
            </a:r>
            <a:r>
              <a:rPr lang="en-ZA" dirty="0" err="1"/>
              <a:t>típico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 computador de mesa (</a:t>
            </a:r>
            <a:r>
              <a:rPr lang="pt-BR" i="1" dirty="0"/>
              <a:t>desktop</a:t>
            </a:r>
            <a:r>
              <a:rPr lang="pt-BR" dirty="0"/>
              <a:t>) típico apresenta uma configuração </a:t>
            </a:r>
            <a:r>
              <a:rPr lang="pt-BR" dirty="0" smtClean="0"/>
              <a:t>com um </a:t>
            </a:r>
            <a:r>
              <a:rPr lang="pt-BR" dirty="0"/>
              <a:t>gabinete contendo a fonte de alimentação, uma placa-mãe com </a:t>
            </a:r>
            <a:r>
              <a:rPr lang="pt-BR" dirty="0" smtClean="0"/>
              <a:t>processador, memória</a:t>
            </a:r>
            <a:r>
              <a:rPr lang="pt-BR" dirty="0"/>
              <a:t>, controlador de vídeo, áudio e rede, uma unidade de </a:t>
            </a:r>
            <a:r>
              <a:rPr lang="pt-BR" dirty="0" smtClean="0"/>
              <a:t>disco rígido </a:t>
            </a:r>
            <a:r>
              <a:rPr lang="pt-BR" dirty="0"/>
              <a:t>(HD – </a:t>
            </a:r>
            <a:r>
              <a:rPr lang="pt-BR" i="1" dirty="0"/>
              <a:t>Hard Drive</a:t>
            </a:r>
            <a:r>
              <a:rPr lang="pt-BR" dirty="0"/>
              <a:t>), unidade de disco ótico (DVD ou Blu-Ray), </a:t>
            </a:r>
            <a:r>
              <a:rPr lang="pt-BR" dirty="0" smtClean="0"/>
              <a:t>conectados a </a:t>
            </a:r>
            <a:r>
              <a:rPr lang="pt-BR" dirty="0"/>
              <a:t>um monitor (LCD ou LED), um teclado, um </a:t>
            </a:r>
            <a:r>
              <a:rPr lang="pt-BR" i="1" dirty="0"/>
              <a:t>mouse </a:t>
            </a:r>
            <a:r>
              <a:rPr lang="pt-BR" dirty="0"/>
              <a:t>e uma caixa de som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5767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 err="1"/>
              <a:t>Unidades</a:t>
            </a:r>
            <a:r>
              <a:rPr lang="en-ZA" dirty="0"/>
              <a:t> </a:t>
            </a:r>
            <a:r>
              <a:rPr lang="en-ZA" dirty="0" err="1"/>
              <a:t>métricas</a:t>
            </a:r>
            <a:r>
              <a:rPr lang="en-ZA" dirty="0"/>
              <a:t> </a:t>
            </a:r>
            <a:r>
              <a:rPr lang="en-ZA" dirty="0" err="1"/>
              <a:t>nos</a:t>
            </a:r>
            <a:r>
              <a:rPr lang="en-ZA" dirty="0"/>
              <a:t> </a:t>
            </a:r>
            <a:r>
              <a:rPr lang="en-ZA" dirty="0" err="1"/>
              <a:t>sistemas</a:t>
            </a:r>
            <a:r>
              <a:rPr lang="en-ZA" dirty="0"/>
              <a:t/>
            </a:r>
            <a:br>
              <a:rPr lang="en-ZA" dirty="0"/>
            </a:br>
            <a:r>
              <a:rPr lang="en-ZA" dirty="0" err="1"/>
              <a:t>computacionais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Os computadores digitais processam a informação através de </a:t>
            </a:r>
            <a:r>
              <a:rPr lang="pt-BR" i="1" dirty="0"/>
              <a:t>bits</a:t>
            </a:r>
            <a:r>
              <a:rPr lang="pt-BR" dirty="0"/>
              <a:t>. Um </a:t>
            </a:r>
            <a:r>
              <a:rPr lang="pt-BR" i="1" dirty="0" smtClean="0"/>
              <a:t>bit </a:t>
            </a:r>
            <a:r>
              <a:rPr lang="pt-BR" dirty="0" smtClean="0"/>
              <a:t>é </a:t>
            </a:r>
            <a:r>
              <a:rPr lang="pt-BR" dirty="0"/>
              <a:t>a menor unidade num sistema digital e pode assumir o valor 0 ou 1. </a:t>
            </a:r>
            <a:r>
              <a:rPr lang="pt-BR" dirty="0" smtClean="0"/>
              <a:t>O agrupamento </a:t>
            </a:r>
            <a:r>
              <a:rPr lang="pt-BR" dirty="0"/>
              <a:t>de 8 </a:t>
            </a:r>
            <a:r>
              <a:rPr lang="pt-BR" i="1" dirty="0"/>
              <a:t>bits </a:t>
            </a:r>
            <a:r>
              <a:rPr lang="pt-BR" dirty="0"/>
              <a:t>forma um </a:t>
            </a:r>
            <a:r>
              <a:rPr lang="pt-BR" i="1" dirty="0"/>
              <a:t>byte </a:t>
            </a:r>
            <a:r>
              <a:rPr lang="pt-BR" dirty="0"/>
              <a:t>e pode armazenar um valor </a:t>
            </a:r>
            <a:r>
              <a:rPr lang="pt-BR" dirty="0" smtClean="0"/>
              <a:t>numérico de </a:t>
            </a:r>
            <a:r>
              <a:rPr lang="pt-BR" dirty="0"/>
              <a:t>0 a 255 ou representar uma letra</a:t>
            </a:r>
            <a:r>
              <a:rPr lang="pt-BR" dirty="0" smtClean="0"/>
              <a:t>.</a:t>
            </a:r>
          </a:p>
          <a:p>
            <a:r>
              <a:rPr lang="pt-BR" dirty="0"/>
              <a:t>Para medir o tamanho das memórias, discos, arquivos e banco de dados </a:t>
            </a:r>
            <a:r>
              <a:rPr lang="pt-BR" dirty="0" smtClean="0"/>
              <a:t>a unidade </a:t>
            </a:r>
            <a:r>
              <a:rPr lang="pt-BR" dirty="0"/>
              <a:t>básica de medida é o </a:t>
            </a:r>
            <a:r>
              <a:rPr lang="pt-BR" i="1" dirty="0"/>
              <a:t>byte </a:t>
            </a:r>
            <a:r>
              <a:rPr lang="pt-BR" dirty="0"/>
              <a:t>e os seus múltiplos são </a:t>
            </a:r>
            <a:r>
              <a:rPr lang="en-ZA" dirty="0" smtClean="0"/>
              <a:t>2</a:t>
            </a:r>
            <a:r>
              <a:rPr lang="en-ZA" baseline="30000" dirty="0" smtClean="0"/>
              <a:t>10</a:t>
            </a:r>
            <a:r>
              <a:rPr lang="pt-BR" dirty="0" smtClean="0"/>
              <a:t>.</a:t>
            </a:r>
          </a:p>
          <a:p>
            <a:r>
              <a:rPr lang="pt-BR" dirty="0" smtClean="0"/>
              <a:t>Para medir a taxa de transferência de informações, as unidades de medida usadas são baseadas na quantidade de </a:t>
            </a:r>
            <a:r>
              <a:rPr lang="pt-BR" i="1" dirty="0" smtClean="0"/>
              <a:t>bits </a:t>
            </a:r>
            <a:r>
              <a:rPr lang="pt-BR" dirty="0" smtClean="0"/>
              <a:t>por segundo e seus múltiplos </a:t>
            </a:r>
            <a:r>
              <a:rPr lang="en-ZA" dirty="0" err="1" smtClean="0"/>
              <a:t>são</a:t>
            </a:r>
            <a:r>
              <a:rPr lang="en-ZA" dirty="0" smtClean="0"/>
              <a:t> 10</a:t>
            </a:r>
            <a:r>
              <a:rPr lang="en-ZA" baseline="30000" dirty="0" smtClean="0"/>
              <a:t>3</a:t>
            </a:r>
            <a:r>
              <a:rPr lang="en-ZA" dirty="0" smtClean="0"/>
              <a:t>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2624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Atividades</a:t>
            </a:r>
            <a:r>
              <a:rPr lang="en-ZA" dirty="0"/>
              <a:t> de </a:t>
            </a:r>
            <a:r>
              <a:rPr lang="en-ZA" dirty="0" err="1"/>
              <a:t>aprendizagem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1. </a:t>
            </a:r>
            <a:r>
              <a:rPr lang="pt-BR" dirty="0"/>
              <a:t>O que os computadores atuais têm em comum com os </a:t>
            </a:r>
            <a:r>
              <a:rPr lang="pt-BR" dirty="0" smtClean="0"/>
              <a:t>computadores </a:t>
            </a:r>
            <a:r>
              <a:rPr lang="en-ZA" dirty="0" smtClean="0"/>
              <a:t>das </a:t>
            </a:r>
            <a:r>
              <a:rPr lang="en-ZA" dirty="0" err="1"/>
              <a:t>décadas</a:t>
            </a:r>
            <a:r>
              <a:rPr lang="en-ZA" dirty="0"/>
              <a:t> </a:t>
            </a:r>
            <a:r>
              <a:rPr lang="en-ZA" dirty="0" err="1"/>
              <a:t>passadas</a:t>
            </a:r>
            <a:r>
              <a:rPr lang="en-ZA" dirty="0"/>
              <a:t>?</a:t>
            </a:r>
          </a:p>
          <a:p>
            <a:r>
              <a:rPr lang="pt-BR" b="1" dirty="0"/>
              <a:t>2. </a:t>
            </a:r>
            <a:r>
              <a:rPr lang="pt-BR" dirty="0"/>
              <a:t>O que é necessário para um equipamento ser considerado um computador?</a:t>
            </a:r>
          </a:p>
          <a:p>
            <a:r>
              <a:rPr lang="pt-BR" b="1" dirty="0"/>
              <a:t>3. </a:t>
            </a:r>
            <a:r>
              <a:rPr lang="pt-BR" dirty="0"/>
              <a:t>Qual a diferença entre um computador, uma calculadora e um DVD </a:t>
            </a:r>
            <a:r>
              <a:rPr lang="pt-BR" i="1" dirty="0"/>
              <a:t>player</a:t>
            </a:r>
            <a:r>
              <a:rPr lang="pt-BR" dirty="0"/>
              <a:t>?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8864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 smtClean="0"/>
              <a:t>Temas</a:t>
            </a:r>
            <a:r>
              <a:rPr lang="en-ZA" dirty="0" smtClean="0"/>
              <a:t> de </a:t>
            </a:r>
            <a:r>
              <a:rPr lang="en-ZA" dirty="0" err="1" smtClean="0"/>
              <a:t>trabalhos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ZA" dirty="0" smtClean="0"/>
              <a:t>1. </a:t>
            </a:r>
            <a:r>
              <a:rPr lang="en-ZA" dirty="0" err="1" smtClean="0"/>
              <a:t>Conjunto</a:t>
            </a:r>
            <a:r>
              <a:rPr lang="en-ZA" dirty="0" smtClean="0"/>
              <a:t> de </a:t>
            </a:r>
            <a:r>
              <a:rPr lang="en-ZA" dirty="0" err="1" smtClean="0"/>
              <a:t>instrucoes</a:t>
            </a:r>
            <a:endParaRPr lang="en-ZA" dirty="0" smtClean="0"/>
          </a:p>
          <a:p>
            <a:r>
              <a:rPr lang="en-ZA" dirty="0" smtClean="0"/>
              <a:t>1.1. </a:t>
            </a:r>
            <a:r>
              <a:rPr lang="en-ZA" dirty="0" err="1" smtClean="0"/>
              <a:t>caracteristicas</a:t>
            </a:r>
            <a:r>
              <a:rPr lang="en-ZA" dirty="0" smtClean="0"/>
              <a:t> e </a:t>
            </a:r>
            <a:r>
              <a:rPr lang="en-ZA" dirty="0" err="1" smtClean="0"/>
              <a:t>funcoes</a:t>
            </a:r>
            <a:endParaRPr lang="en-ZA" dirty="0" smtClean="0"/>
          </a:p>
          <a:p>
            <a:r>
              <a:rPr lang="en-ZA" dirty="0" smtClean="0"/>
              <a:t>1.2. </a:t>
            </a:r>
            <a:r>
              <a:rPr lang="en-ZA" dirty="0" err="1" smtClean="0"/>
              <a:t>modos</a:t>
            </a:r>
            <a:r>
              <a:rPr lang="en-ZA" dirty="0" smtClean="0"/>
              <a:t> de </a:t>
            </a:r>
            <a:r>
              <a:rPr lang="en-ZA" dirty="0" err="1" smtClean="0"/>
              <a:t>enderecamento</a:t>
            </a:r>
            <a:endParaRPr lang="en-ZA" dirty="0" smtClean="0"/>
          </a:p>
          <a:p>
            <a:r>
              <a:rPr lang="en-ZA" dirty="0" smtClean="0"/>
              <a:t>2. </a:t>
            </a:r>
            <a:r>
              <a:rPr lang="en-ZA" dirty="0" err="1" smtClean="0"/>
              <a:t>Estrutura</a:t>
            </a:r>
            <a:r>
              <a:rPr lang="en-ZA" dirty="0" smtClean="0"/>
              <a:t> e </a:t>
            </a:r>
            <a:r>
              <a:rPr lang="en-ZA" dirty="0" err="1" smtClean="0"/>
              <a:t>funcionamento</a:t>
            </a:r>
            <a:r>
              <a:rPr lang="en-ZA" dirty="0" smtClean="0"/>
              <a:t> da </a:t>
            </a:r>
            <a:r>
              <a:rPr lang="en-ZA" dirty="0" err="1" smtClean="0"/>
              <a:t>cpu</a:t>
            </a:r>
            <a:endParaRPr lang="en-ZA" dirty="0" smtClean="0"/>
          </a:p>
          <a:p>
            <a:r>
              <a:rPr lang="en-ZA" dirty="0" smtClean="0"/>
              <a:t>3. </a:t>
            </a:r>
            <a:r>
              <a:rPr lang="en-ZA" dirty="0" err="1" smtClean="0"/>
              <a:t>Computadores</a:t>
            </a:r>
            <a:r>
              <a:rPr lang="en-ZA" dirty="0" smtClean="0"/>
              <a:t> com um </a:t>
            </a:r>
            <a:r>
              <a:rPr lang="en-ZA" dirty="0" err="1" smtClean="0"/>
              <a:t>conjunto</a:t>
            </a:r>
            <a:r>
              <a:rPr lang="en-ZA" dirty="0" smtClean="0"/>
              <a:t> </a:t>
            </a:r>
            <a:r>
              <a:rPr lang="en-ZA" dirty="0" err="1" smtClean="0"/>
              <a:t>reduzido</a:t>
            </a:r>
            <a:r>
              <a:rPr lang="en-ZA" dirty="0" smtClean="0"/>
              <a:t> de </a:t>
            </a:r>
            <a:r>
              <a:rPr lang="en-ZA" dirty="0" err="1" smtClean="0"/>
              <a:t>instrucoes</a:t>
            </a:r>
            <a:endParaRPr lang="en-ZA" dirty="0" smtClean="0"/>
          </a:p>
          <a:p>
            <a:r>
              <a:rPr lang="en-ZA" dirty="0" smtClean="0"/>
              <a:t>4. </a:t>
            </a:r>
            <a:r>
              <a:rPr lang="en-ZA" dirty="0" err="1" smtClean="0"/>
              <a:t>Paralelismo</a:t>
            </a:r>
            <a:r>
              <a:rPr lang="en-ZA" dirty="0" smtClean="0"/>
              <a:t> no </a:t>
            </a:r>
            <a:r>
              <a:rPr lang="en-ZA" dirty="0" err="1" smtClean="0"/>
              <a:t>nivel</a:t>
            </a:r>
            <a:r>
              <a:rPr lang="en-ZA" dirty="0" smtClean="0"/>
              <a:t> de </a:t>
            </a:r>
            <a:r>
              <a:rPr lang="en-ZA" dirty="0" err="1" smtClean="0"/>
              <a:t>instrucoes</a:t>
            </a:r>
            <a:r>
              <a:rPr lang="en-ZA" dirty="0" smtClean="0"/>
              <a:t> e </a:t>
            </a:r>
            <a:r>
              <a:rPr lang="en-ZA" dirty="0" err="1" smtClean="0"/>
              <a:t>processadores</a:t>
            </a:r>
            <a:r>
              <a:rPr lang="en-ZA" dirty="0" smtClean="0"/>
              <a:t> </a:t>
            </a:r>
            <a:r>
              <a:rPr lang="en-ZA" dirty="0" err="1" smtClean="0"/>
              <a:t>superescalares</a:t>
            </a:r>
            <a:endParaRPr lang="en-ZA" dirty="0" smtClean="0"/>
          </a:p>
          <a:p>
            <a:r>
              <a:rPr lang="en-ZA" dirty="0" smtClean="0"/>
              <a:t>5. </a:t>
            </a:r>
            <a:r>
              <a:rPr lang="en-ZA" dirty="0" err="1" smtClean="0"/>
              <a:t>operacoes</a:t>
            </a:r>
            <a:r>
              <a:rPr lang="en-ZA" dirty="0" smtClean="0"/>
              <a:t> da </a:t>
            </a:r>
            <a:r>
              <a:rPr lang="en-ZA" dirty="0" err="1" smtClean="0"/>
              <a:t>unidade</a:t>
            </a:r>
            <a:r>
              <a:rPr lang="en-ZA" dirty="0" smtClean="0"/>
              <a:t> de </a:t>
            </a:r>
            <a:r>
              <a:rPr lang="en-ZA" dirty="0" err="1" smtClean="0"/>
              <a:t>controle</a:t>
            </a:r>
            <a:endParaRPr lang="en-ZA" dirty="0" smtClean="0"/>
          </a:p>
          <a:p>
            <a:r>
              <a:rPr lang="en-ZA" dirty="0" smtClean="0"/>
              <a:t>6. </a:t>
            </a:r>
            <a:r>
              <a:rPr lang="en-ZA" dirty="0" err="1" smtClean="0"/>
              <a:t>Processamento</a:t>
            </a:r>
            <a:r>
              <a:rPr lang="en-ZA" dirty="0" smtClean="0"/>
              <a:t> </a:t>
            </a:r>
            <a:r>
              <a:rPr lang="en-ZA" dirty="0" err="1" smtClean="0"/>
              <a:t>paralelo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2514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1219</Words>
  <Application>Microsoft Office PowerPoint</Application>
  <PresentationFormat>On-screen Show (4:3)</PresentationFormat>
  <Paragraphs>75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Arquitetura de computadores</vt:lpstr>
      <vt:lpstr>Computador</vt:lpstr>
      <vt:lpstr>PowerPoint Presentation</vt:lpstr>
      <vt:lpstr>PowerPoint Presentation</vt:lpstr>
      <vt:lpstr>PowerPoint Presentation</vt:lpstr>
      <vt:lpstr>Um computador é capaz de realizar basicamente quatro operações</vt:lpstr>
      <vt:lpstr>PowerPoint Presentation</vt:lpstr>
      <vt:lpstr>As principais etapas de um algoritmo para a obtenção de uma solução computacional são:</vt:lpstr>
      <vt:lpstr>Níveis das máquinas</vt:lpstr>
      <vt:lpstr>PowerPoint Presentation</vt:lpstr>
      <vt:lpstr>Os computadores modernos são organizados normalmente em vários níveis</vt:lpstr>
      <vt:lpstr>PowerPoint Presentation</vt:lpstr>
      <vt:lpstr>PowerPoint Presentation</vt:lpstr>
      <vt:lpstr>Sistema de computador típico</vt:lpstr>
      <vt:lpstr>Unidades métricas nos sistemas computacionais</vt:lpstr>
      <vt:lpstr>Atividades de aprendizagem</vt:lpstr>
      <vt:lpstr>Temas de trabalhos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Evolução da arquitetura de computadores</dc:title>
  <dc:creator>USER</dc:creator>
  <cp:lastModifiedBy>USER</cp:lastModifiedBy>
  <cp:revision>34</cp:revision>
  <dcterms:created xsi:type="dcterms:W3CDTF">2016-07-14T11:44:37Z</dcterms:created>
  <dcterms:modified xsi:type="dcterms:W3CDTF">2016-08-04T18:33:24Z</dcterms:modified>
</cp:coreProperties>
</file>