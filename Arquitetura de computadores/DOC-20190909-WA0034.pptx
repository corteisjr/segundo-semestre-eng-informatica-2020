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86" r:id="rId3"/>
    <p:sldId id="257" r:id="rId4"/>
    <p:sldId id="287" r:id="rId5"/>
    <p:sldId id="258" r:id="rId6"/>
    <p:sldId id="259" r:id="rId7"/>
    <p:sldId id="260" r:id="rId8"/>
    <p:sldId id="285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466" autoAdjust="0"/>
  </p:normalViewPr>
  <p:slideViewPr>
    <p:cSldViewPr>
      <p:cViewPr>
        <p:scale>
          <a:sx n="75" d="100"/>
          <a:sy n="75" d="100"/>
        </p:scale>
        <p:origin x="-1224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901B6-F723-4292-83C2-CB45126CF40C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38CE0-2F3E-407B-8C20-54358136DC1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074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encapsulamento é o que dá forma física aos </a:t>
            </a:r>
            <a:r>
              <a:rPr lang="pt-BR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chips </a:t>
            </a:r>
            <a:r>
              <a:rPr lang="pt-B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memória. Os principais</a:t>
            </a:r>
          </a:p>
          <a:p>
            <a:r>
              <a:rPr lang="en-ZA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encapsulamentos</a:t>
            </a:r>
            <a:r>
              <a:rPr lang="en-Z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ZA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são</a:t>
            </a:r>
            <a:r>
              <a:rPr lang="en-Z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38CE0-2F3E-407B-8C20-54358136DC11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0743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659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4372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914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05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8950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479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235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056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838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396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78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DF4D3-DD6D-4FA7-9FC0-6BB917F0C1C9}" type="datetimeFigureOut">
              <a:rPr lang="en-ZA" smtClean="0"/>
              <a:t>2016-09-14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182E7-A262-41C1-9FD6-EE0405AB61EB}" type="slidenum">
              <a:rPr lang="en-ZA" smtClean="0"/>
              <a:t>‹#›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3654"/>
            <a:ext cx="924703" cy="8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6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470025"/>
          </a:xfrm>
        </p:spPr>
        <p:txBody>
          <a:bodyPr/>
          <a:lstStyle/>
          <a:p>
            <a:pPr fontAlgn="base"/>
            <a:r>
              <a:rPr lang="en-ZA" b="1" dirty="0" err="1"/>
              <a:t>Memória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492896"/>
            <a:ext cx="7416824" cy="3744416"/>
          </a:xfrm>
        </p:spPr>
        <p:txBody>
          <a:bodyPr>
            <a:normAutofit/>
          </a:bodyPr>
          <a:lstStyle/>
          <a:p>
            <a:r>
              <a:rPr lang="en-ZA" dirty="0" err="1"/>
              <a:t>Objetivos</a:t>
            </a:r>
            <a:endParaRPr lang="en-ZA" dirty="0"/>
          </a:p>
          <a:p>
            <a:r>
              <a:rPr lang="pt-BR" dirty="0"/>
              <a:t>Compreender os conceitos relacionados à memória principal de</a:t>
            </a:r>
          </a:p>
          <a:p>
            <a:r>
              <a:rPr lang="pt-BR" dirty="0"/>
              <a:t>um computador, sua importância e influência para a computação,</a:t>
            </a:r>
          </a:p>
          <a:p>
            <a:r>
              <a:rPr lang="pt-BR" dirty="0"/>
              <a:t>bem como seus tipos e características.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8252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b="1" dirty="0" err="1"/>
              <a:t>Memória</a:t>
            </a:r>
            <a:endParaRPr lang="en-ZA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683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a computação, memória são todos os dispositivos que permitem a </a:t>
            </a:r>
            <a:r>
              <a:rPr lang="pt-BR" dirty="0" smtClean="0"/>
              <a:t>um computador </a:t>
            </a:r>
            <a:r>
              <a:rPr lang="pt-BR" dirty="0"/>
              <a:t>guardar dados, temporariamente ou permanentemente.</a:t>
            </a:r>
          </a:p>
          <a:p>
            <a:r>
              <a:rPr lang="pt-BR" dirty="0"/>
              <a:t>O armazenamento de dados nos computadores é divido em dois </a:t>
            </a:r>
            <a:r>
              <a:rPr lang="pt-BR" dirty="0" smtClean="0"/>
              <a:t>grandes </a:t>
            </a:r>
            <a:r>
              <a:rPr lang="en-ZA" dirty="0" err="1" smtClean="0"/>
              <a:t>grupos</a:t>
            </a:r>
            <a:r>
              <a:rPr lang="en-ZA" dirty="0" smtClean="0"/>
              <a:t> </a:t>
            </a:r>
            <a:r>
              <a:rPr lang="en-ZA" dirty="0"/>
              <a:t>de </a:t>
            </a:r>
            <a:r>
              <a:rPr lang="en-ZA" dirty="0" err="1"/>
              <a:t>dispositivos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1273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err="1"/>
              <a:t>Tipos</a:t>
            </a:r>
            <a:r>
              <a:rPr lang="en-ZA" dirty="0"/>
              <a:t> de </a:t>
            </a:r>
            <a:r>
              <a:rPr lang="en-ZA" dirty="0" err="1"/>
              <a:t>memória</a:t>
            </a:r>
            <a:endParaRPr lang="en-ZA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139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a) Memória primária ou principal </a:t>
            </a:r>
            <a:r>
              <a:rPr lang="pt-BR" dirty="0"/>
              <a:t>– é onde os processos (programas </a:t>
            </a:r>
            <a:r>
              <a:rPr lang="pt-BR" dirty="0" smtClean="0"/>
              <a:t>em estado </a:t>
            </a:r>
            <a:r>
              <a:rPr lang="pt-BR" dirty="0"/>
              <a:t>de execução) e os seus dados são armazenados para serem </a:t>
            </a:r>
            <a:r>
              <a:rPr lang="pt-BR" dirty="0" smtClean="0"/>
              <a:t>processados pela </a:t>
            </a:r>
            <a:r>
              <a:rPr lang="pt-BR" dirty="0"/>
              <a:t>CPU. É formada por dispositivos de memória de </a:t>
            </a:r>
            <a:r>
              <a:rPr lang="pt-BR" dirty="0" smtClean="0"/>
              <a:t>acesso rápido</a:t>
            </a:r>
            <a:r>
              <a:rPr lang="pt-BR" dirty="0"/>
              <a:t>, com armazenamento de um menor volume de </a:t>
            </a:r>
            <a:r>
              <a:rPr lang="pt-BR" dirty="0" smtClean="0"/>
              <a:t>dados, que em geral</a:t>
            </a:r>
            <a:r>
              <a:rPr lang="pt-BR" dirty="0"/>
              <a:t>, não conseguem guardar a informação quando são desligados.</a:t>
            </a:r>
          </a:p>
          <a:p>
            <a:r>
              <a:rPr lang="pt-BR" b="1" dirty="0"/>
              <a:t>b) Memória secundária </a:t>
            </a:r>
            <a:r>
              <a:rPr lang="pt-BR" dirty="0"/>
              <a:t>– é onde os arquivos e dados são </a:t>
            </a:r>
            <a:r>
              <a:rPr lang="pt-BR" dirty="0" smtClean="0"/>
              <a:t>armazenados. É </a:t>
            </a:r>
            <a:r>
              <a:rPr lang="pt-BR" dirty="0"/>
              <a:t>formada por dispositivos de acesso mais lento, capazes de </a:t>
            </a:r>
            <a:r>
              <a:rPr lang="pt-BR" dirty="0" smtClean="0"/>
              <a:t>armazenar </a:t>
            </a:r>
            <a:r>
              <a:rPr lang="en-ZA" dirty="0" err="1" smtClean="0"/>
              <a:t>permanentemente</a:t>
            </a:r>
            <a:r>
              <a:rPr lang="en-ZA" dirty="0" smtClean="0"/>
              <a:t> </a:t>
            </a:r>
            <a:r>
              <a:rPr lang="en-ZA" dirty="0" err="1"/>
              <a:t>grandes</a:t>
            </a:r>
            <a:r>
              <a:rPr lang="en-ZA" dirty="0"/>
              <a:t> volumes de dados.</a:t>
            </a:r>
          </a:p>
        </p:txBody>
      </p:sp>
    </p:spTree>
    <p:extLst>
      <p:ext uri="{BB962C8B-B14F-4D97-AF65-F5344CB8AC3E}">
        <p14:creationId xmlns:p14="http://schemas.microsoft.com/office/powerpoint/2010/main" val="14334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r>
              <a:rPr lang="pt-BR" dirty="0"/>
              <a:t>A unidade básica de memória é o </a:t>
            </a:r>
            <a:r>
              <a:rPr lang="pt-BR" i="1" dirty="0"/>
              <a:t>bit</a:t>
            </a:r>
            <a:r>
              <a:rPr lang="pt-BR" dirty="0"/>
              <a:t>. Um </a:t>
            </a:r>
            <a:r>
              <a:rPr lang="pt-BR" i="1" dirty="0"/>
              <a:t>bit </a:t>
            </a:r>
            <a:r>
              <a:rPr lang="pt-BR" dirty="0"/>
              <a:t>pode conter um 0 ou um 1. </a:t>
            </a:r>
            <a:endParaRPr lang="pt-BR" dirty="0" smtClean="0"/>
          </a:p>
          <a:p>
            <a:r>
              <a:rPr lang="pt-BR" dirty="0" smtClean="0"/>
              <a:t>O agrupamento </a:t>
            </a:r>
            <a:r>
              <a:rPr lang="pt-BR" dirty="0"/>
              <a:t>de 0s e 1s é capaz de representar qualquer tipo de </a:t>
            </a:r>
            <a:r>
              <a:rPr lang="pt-BR" dirty="0" smtClean="0"/>
              <a:t>informação. </a:t>
            </a:r>
          </a:p>
          <a:p>
            <a:r>
              <a:rPr lang="pt-BR" dirty="0" smtClean="0"/>
              <a:t>As </a:t>
            </a:r>
            <a:r>
              <a:rPr lang="pt-BR" dirty="0"/>
              <a:t>informações são agrupadas em </a:t>
            </a:r>
            <a:r>
              <a:rPr lang="pt-BR" i="1" dirty="0"/>
              <a:t>bytes </a:t>
            </a:r>
            <a:r>
              <a:rPr lang="pt-BR" dirty="0"/>
              <a:t>(8 </a:t>
            </a:r>
            <a:r>
              <a:rPr lang="pt-BR" i="1" dirty="0"/>
              <a:t>bits</a:t>
            </a:r>
            <a:r>
              <a:rPr lang="pt-BR" dirty="0"/>
              <a:t>) ou em palavras de 32 ou </a:t>
            </a:r>
            <a:r>
              <a:rPr lang="pt-BR" dirty="0" smtClean="0"/>
              <a:t>64 </a:t>
            </a:r>
            <a:r>
              <a:rPr lang="pt-BR" i="1" dirty="0" smtClean="0"/>
              <a:t>bits</a:t>
            </a:r>
            <a:r>
              <a:rPr lang="pt-BR" dirty="0"/>
              <a:t>. As memórias constituem-se em uma quantidade de células (</a:t>
            </a:r>
            <a:r>
              <a:rPr lang="pt-BR" dirty="0" smtClean="0"/>
              <a:t>endereços) que </a:t>
            </a:r>
            <a:r>
              <a:rPr lang="pt-BR" dirty="0"/>
              <a:t>podem armazenar estas informações.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127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r>
              <a:rPr lang="pt-BR" dirty="0"/>
              <a:t>O elemento básico das </a:t>
            </a:r>
            <a:r>
              <a:rPr lang="pt-BR" dirty="0" smtClean="0"/>
              <a:t>memórias semicondutoras </a:t>
            </a:r>
            <a:r>
              <a:rPr lang="pt-BR" dirty="0"/>
              <a:t>é a célula de memória </a:t>
            </a:r>
            <a:r>
              <a:rPr lang="pt-BR" dirty="0" smtClean="0"/>
              <a:t>e </a:t>
            </a:r>
            <a:r>
              <a:rPr lang="en-ZA" dirty="0" err="1" smtClean="0"/>
              <a:t>apresenta</a:t>
            </a:r>
            <a:r>
              <a:rPr lang="en-ZA" dirty="0" smtClean="0"/>
              <a:t> </a:t>
            </a:r>
            <a:r>
              <a:rPr lang="en-ZA" dirty="0"/>
              <a:t>as </a:t>
            </a:r>
            <a:r>
              <a:rPr lang="en-ZA" dirty="0" err="1"/>
              <a:t>seguintes</a:t>
            </a:r>
            <a:r>
              <a:rPr lang="en-ZA" dirty="0"/>
              <a:t> </a:t>
            </a:r>
            <a:r>
              <a:rPr lang="en-ZA" dirty="0" err="1" smtClean="0"/>
              <a:t>características</a:t>
            </a:r>
            <a:r>
              <a:rPr lang="en-ZA" dirty="0" smtClean="0"/>
              <a:t>:</a:t>
            </a:r>
          </a:p>
          <a:p>
            <a:r>
              <a:rPr lang="pt-BR" dirty="0" smtClean="0"/>
              <a:t>Apresenta </a:t>
            </a:r>
            <a:r>
              <a:rPr lang="pt-BR" dirty="0"/>
              <a:t>dois estados estáveis para representar o 0 ou o 1</a:t>
            </a:r>
            <a:r>
              <a:rPr lang="pt-BR" dirty="0" smtClean="0"/>
              <a:t>.</a:t>
            </a:r>
          </a:p>
          <a:p>
            <a:r>
              <a:rPr lang="pt-BR" dirty="0" smtClean="0"/>
              <a:t>É </a:t>
            </a:r>
            <a:r>
              <a:rPr lang="pt-BR" dirty="0"/>
              <a:t>capaz de ser escrita, para definir o estado.</a:t>
            </a:r>
          </a:p>
          <a:p>
            <a:r>
              <a:rPr lang="pt-BR" dirty="0" smtClean="0"/>
              <a:t>É </a:t>
            </a:r>
            <a:r>
              <a:rPr lang="pt-BR" dirty="0"/>
              <a:t>capaz de ser lida, para verificar o estado.</a:t>
            </a:r>
          </a:p>
          <a:p>
            <a:pPr marL="0" indent="0">
              <a:buNone/>
            </a:pPr>
            <a:r>
              <a:rPr lang="pt-BR" i="1" dirty="0"/>
              <a:t>A memória principal é formada por dois tipos de memórias: a ROM e a RAM.</a:t>
            </a:r>
            <a:endParaRPr lang="en-ZA" i="1" dirty="0"/>
          </a:p>
        </p:txBody>
      </p:sp>
    </p:spTree>
    <p:extLst>
      <p:ext uri="{BB962C8B-B14F-4D97-AF65-F5344CB8AC3E}">
        <p14:creationId xmlns:p14="http://schemas.microsoft.com/office/powerpoint/2010/main" val="415291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7808" y="1340768"/>
            <a:ext cx="7772400" cy="1470025"/>
          </a:xfrm>
        </p:spPr>
        <p:txBody>
          <a:bodyPr/>
          <a:lstStyle/>
          <a:p>
            <a:r>
              <a:rPr lang="pt-BR" i="1" dirty="0" smtClean="0"/>
              <a:t>O que </a:t>
            </a:r>
            <a:r>
              <a:rPr lang="pt-PT" i="1" dirty="0" smtClean="0"/>
              <a:t>é memória </a:t>
            </a:r>
            <a:r>
              <a:rPr lang="pt-BR" i="1" dirty="0" smtClean="0"/>
              <a:t>ROM</a:t>
            </a:r>
            <a:endParaRPr lang="en-ZA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39552" y="3717032"/>
            <a:ext cx="82089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i="1" dirty="0" smtClean="0"/>
              <a:t>O que </a:t>
            </a:r>
            <a:r>
              <a:rPr lang="pt-PT" i="1" dirty="0" smtClean="0"/>
              <a:t>é memória </a:t>
            </a:r>
            <a:r>
              <a:rPr lang="pt-BR" i="1" dirty="0" smtClean="0"/>
              <a:t>RAM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49556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Memória</a:t>
            </a:r>
            <a:r>
              <a:rPr lang="en-ZA" dirty="0"/>
              <a:t> 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ROM (</a:t>
            </a:r>
            <a:r>
              <a:rPr lang="pt-BR" i="1" dirty="0"/>
              <a:t>Read Only Memory</a:t>
            </a:r>
            <a:r>
              <a:rPr lang="pt-BR" dirty="0"/>
              <a:t>) significa memória somente para leitura. É um </a:t>
            </a:r>
            <a:r>
              <a:rPr lang="pt-BR" dirty="0" smtClean="0"/>
              <a:t>tipo de </a:t>
            </a:r>
            <a:r>
              <a:rPr lang="pt-BR" dirty="0"/>
              <a:t>memória que, em uso normal, aceita apenas operações de leitura, </a:t>
            </a:r>
            <a:r>
              <a:rPr lang="pt-BR" dirty="0" smtClean="0"/>
              <a:t>não permitindo </a:t>
            </a:r>
            <a:r>
              <a:rPr lang="pt-BR" dirty="0"/>
              <a:t>a realização de escritas. Outra característica da ROM é que </a:t>
            </a:r>
            <a:r>
              <a:rPr lang="pt-BR" dirty="0" smtClean="0"/>
              <a:t>seus dados </a:t>
            </a:r>
            <a:r>
              <a:rPr lang="pt-BR" dirty="0"/>
              <a:t>não são perdidos quando ela é desligada (memória não volátil</a:t>
            </a:r>
            <a:r>
              <a:rPr lang="pt-BR" dirty="0" smtClean="0"/>
              <a:t>).</a:t>
            </a:r>
          </a:p>
          <a:p>
            <a:r>
              <a:rPr lang="pt-BR" dirty="0"/>
              <a:t>Os tipos de memórias ROM são: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7979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048672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a) ROM </a:t>
            </a:r>
            <a:r>
              <a:rPr lang="pt-BR" dirty="0"/>
              <a:t>(</a:t>
            </a:r>
            <a:r>
              <a:rPr lang="pt-BR" i="1" dirty="0"/>
              <a:t>Read Only Memory</a:t>
            </a:r>
            <a:r>
              <a:rPr lang="pt-BR" dirty="0"/>
              <a:t>) – é o tipo mais simples. Seus dados são </a:t>
            </a:r>
            <a:r>
              <a:rPr lang="pt-BR" dirty="0" smtClean="0"/>
              <a:t>gravados durante </a:t>
            </a:r>
            <a:r>
              <a:rPr lang="pt-BR" dirty="0"/>
              <a:t>o processo de fabricação do </a:t>
            </a:r>
            <a:r>
              <a:rPr lang="pt-BR" i="1" dirty="0"/>
              <a:t>chip</a:t>
            </a:r>
            <a:r>
              <a:rPr lang="pt-BR" dirty="0"/>
              <a:t>. Não há como </a:t>
            </a:r>
            <a:r>
              <a:rPr lang="pt-BR" dirty="0" smtClean="0"/>
              <a:t>modificar ou </a:t>
            </a:r>
            <a:r>
              <a:rPr lang="pt-BR" dirty="0"/>
              <a:t>apagar o seu conteúdo.</a:t>
            </a:r>
          </a:p>
          <a:p>
            <a:r>
              <a:rPr lang="pt-BR" b="1" dirty="0"/>
              <a:t>b) PROM </a:t>
            </a:r>
            <a:r>
              <a:rPr lang="pt-BR" dirty="0"/>
              <a:t>(</a:t>
            </a:r>
            <a:r>
              <a:rPr lang="pt-BR" i="1" dirty="0"/>
              <a:t>Programable Read Only Memory</a:t>
            </a:r>
            <a:r>
              <a:rPr lang="pt-BR" dirty="0"/>
              <a:t>) – é um tipo de memória </a:t>
            </a:r>
            <a:r>
              <a:rPr lang="pt-BR" dirty="0" smtClean="0"/>
              <a:t>ROM, com </a:t>
            </a:r>
            <a:r>
              <a:rPr lang="pt-BR" dirty="0"/>
              <a:t>uma diferença: pode ser programada em laboratório, através </a:t>
            </a:r>
            <a:r>
              <a:rPr lang="pt-BR" dirty="0" smtClean="0"/>
              <a:t>de um </a:t>
            </a:r>
            <a:r>
              <a:rPr lang="pt-BR" dirty="0"/>
              <a:t>gravador especial. Esse tipo de gravação é feito através da “</a:t>
            </a:r>
            <a:r>
              <a:rPr lang="pt-BR" dirty="0" smtClean="0"/>
              <a:t>queima” de </a:t>
            </a:r>
            <a:r>
              <a:rPr lang="pt-BR" dirty="0"/>
              <a:t>microscópicos elementos, que são como pequenos fusíveis, feitos </a:t>
            </a:r>
            <a:r>
              <a:rPr lang="pt-BR" dirty="0" smtClean="0"/>
              <a:t>de material </a:t>
            </a:r>
            <a:r>
              <a:rPr lang="pt-BR" dirty="0"/>
              <a:t>semicondutor. Esse processo é irreversível. Sendo assim não </a:t>
            </a:r>
            <a:r>
              <a:rPr lang="pt-BR" dirty="0" smtClean="0"/>
              <a:t>há como </a:t>
            </a:r>
            <a:r>
              <a:rPr lang="pt-BR" dirty="0"/>
              <a:t>apagar o seu conteúdo.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06220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120680"/>
          </a:xfrm>
        </p:spPr>
        <p:txBody>
          <a:bodyPr>
            <a:normAutofit/>
          </a:bodyPr>
          <a:lstStyle/>
          <a:p>
            <a:r>
              <a:rPr lang="en-ZA" b="1" dirty="0"/>
              <a:t>c) EPROM </a:t>
            </a:r>
            <a:r>
              <a:rPr lang="en-ZA" dirty="0"/>
              <a:t>(</a:t>
            </a:r>
            <a:r>
              <a:rPr lang="en-ZA" i="1" dirty="0"/>
              <a:t>Erasable </a:t>
            </a:r>
            <a:r>
              <a:rPr lang="en-ZA" i="1" dirty="0" err="1"/>
              <a:t>Programable</a:t>
            </a:r>
            <a:r>
              <a:rPr lang="en-ZA" i="1" dirty="0"/>
              <a:t> Read Only Memory</a:t>
            </a:r>
            <a:r>
              <a:rPr lang="en-ZA" dirty="0"/>
              <a:t>) – é </a:t>
            </a:r>
            <a:r>
              <a:rPr lang="en-ZA" dirty="0" err="1"/>
              <a:t>uma</a:t>
            </a:r>
            <a:r>
              <a:rPr lang="en-ZA" dirty="0"/>
              <a:t> ROM </a:t>
            </a:r>
            <a:r>
              <a:rPr lang="en-ZA" dirty="0" err="1" smtClean="0"/>
              <a:t>programável</a:t>
            </a:r>
            <a:r>
              <a:rPr lang="en-ZA" dirty="0" smtClean="0"/>
              <a:t>, </a:t>
            </a:r>
            <a:r>
              <a:rPr lang="pt-BR" dirty="0" smtClean="0"/>
              <a:t>que </a:t>
            </a:r>
            <a:r>
              <a:rPr lang="pt-BR" dirty="0"/>
              <a:t>pode ser apagada e regravada. Seus dados podem </a:t>
            </a:r>
            <a:r>
              <a:rPr lang="pt-BR" dirty="0" smtClean="0"/>
              <a:t>ser apagados </a:t>
            </a:r>
            <a:r>
              <a:rPr lang="pt-BR" dirty="0"/>
              <a:t>através de um feixe de luz ultravioleta de alta </a:t>
            </a:r>
            <a:r>
              <a:rPr lang="pt-BR" dirty="0" smtClean="0"/>
              <a:t>intensidade. Esses </a:t>
            </a:r>
            <a:r>
              <a:rPr lang="pt-BR" dirty="0"/>
              <a:t>raios são obtidos em um aparelho especial chamado “apagador </a:t>
            </a:r>
            <a:r>
              <a:rPr lang="pt-BR" dirty="0" smtClean="0"/>
              <a:t>de EPROMs</a:t>
            </a:r>
            <a:r>
              <a:rPr lang="pt-BR" dirty="0"/>
              <a:t>”. A programação do </a:t>
            </a:r>
            <a:r>
              <a:rPr lang="pt-BR" i="1" dirty="0"/>
              <a:t>chip </a:t>
            </a:r>
            <a:r>
              <a:rPr lang="pt-BR" dirty="0" smtClean="0"/>
              <a:t>é realizada </a:t>
            </a:r>
            <a:r>
              <a:rPr lang="pt-BR" dirty="0"/>
              <a:t>com o uso de um </a:t>
            </a:r>
            <a:r>
              <a:rPr lang="pt-BR" dirty="0" smtClean="0"/>
              <a:t>aparelho chamado </a:t>
            </a:r>
            <a:r>
              <a:rPr lang="pt-BR" dirty="0"/>
              <a:t>de “gravador de EPROMs</a:t>
            </a:r>
            <a:r>
              <a:rPr lang="pt-BR" dirty="0" smtClean="0"/>
              <a:t>”.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26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85000" lnSpcReduction="10000"/>
          </a:bodyPr>
          <a:lstStyle/>
          <a:p>
            <a:endParaRPr lang="pt-BR" dirty="0"/>
          </a:p>
          <a:p>
            <a:r>
              <a:rPr lang="en-ZA" b="1" dirty="0"/>
              <a:t>d) EEPROM </a:t>
            </a:r>
            <a:r>
              <a:rPr lang="en-ZA" dirty="0"/>
              <a:t>(</a:t>
            </a:r>
            <a:r>
              <a:rPr lang="en-ZA" i="1" dirty="0" err="1"/>
              <a:t>Eletrically</a:t>
            </a:r>
            <a:r>
              <a:rPr lang="en-ZA" i="1" dirty="0"/>
              <a:t> </a:t>
            </a:r>
            <a:r>
              <a:rPr lang="en-ZA" i="1" dirty="0" err="1"/>
              <a:t>Eraseable</a:t>
            </a:r>
            <a:r>
              <a:rPr lang="en-ZA" i="1" dirty="0"/>
              <a:t> </a:t>
            </a:r>
            <a:r>
              <a:rPr lang="en-ZA" i="1" dirty="0" err="1"/>
              <a:t>Programable</a:t>
            </a:r>
            <a:r>
              <a:rPr lang="en-ZA" i="1" dirty="0"/>
              <a:t> Read Only Memory</a:t>
            </a:r>
            <a:r>
              <a:rPr lang="en-ZA" dirty="0"/>
              <a:t>) – </a:t>
            </a:r>
            <a:r>
              <a:rPr lang="en-ZA" dirty="0" err="1"/>
              <a:t>são</a:t>
            </a:r>
            <a:r>
              <a:rPr lang="en-ZA" dirty="0"/>
              <a:t> </a:t>
            </a:r>
            <a:r>
              <a:rPr lang="pt-BR" dirty="0"/>
              <a:t>ROMs que podem ser regravados através da aplicação de voltagens de programações especiais. Em uso normal, essa voltagem não chega até o </a:t>
            </a:r>
            <a:r>
              <a:rPr lang="pt-BR" i="1" dirty="0"/>
              <a:t>chip</a:t>
            </a:r>
            <a:r>
              <a:rPr lang="pt-BR" dirty="0"/>
              <a:t>, e seus dados permanecem inalteráveis. Este tipo especial de ROM tem sido utilizado nas placas-mãe desde a década de 1990 para armazenar o seu BIOS (</a:t>
            </a:r>
            <a:r>
              <a:rPr lang="pt-BR" i="1" dirty="0"/>
              <a:t>Basic Input/Output System </a:t>
            </a:r>
            <a:r>
              <a:rPr lang="pt-BR" dirty="0"/>
              <a:t>ou Sistema Básico de Entrada/Saída). Pelo fato de serem alteráveis, permitem realizar atualizações do BIOS, </a:t>
            </a:r>
            <a:r>
              <a:rPr lang="pt-BR" dirty="0" smtClean="0"/>
              <a:t>através </a:t>
            </a:r>
            <a:r>
              <a:rPr lang="pt-BR" dirty="0"/>
              <a:t>de programas especiais que ativam os seus circuitos de gravação. </a:t>
            </a:r>
            <a:r>
              <a:rPr lang="pt-BR" dirty="0" smtClean="0"/>
              <a:t>Esse programa </a:t>
            </a:r>
            <a:r>
              <a:rPr lang="pt-BR" dirty="0"/>
              <a:t>é fornecido pelo fabricante da placa-mãe.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29997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/>
          </a:bodyPr>
          <a:lstStyle/>
          <a:p>
            <a:r>
              <a:rPr lang="en-ZA" b="1" dirty="0"/>
              <a:t>e) </a:t>
            </a:r>
            <a:r>
              <a:rPr lang="en-ZA" b="1" i="1" dirty="0"/>
              <a:t>Flash </a:t>
            </a:r>
            <a:r>
              <a:rPr lang="en-ZA" b="1" dirty="0"/>
              <a:t>ROM </a:t>
            </a:r>
            <a:r>
              <a:rPr lang="en-ZA" dirty="0"/>
              <a:t>(</a:t>
            </a:r>
            <a:r>
              <a:rPr lang="en-ZA" i="1" dirty="0"/>
              <a:t>Flash Read Only Memory</a:t>
            </a:r>
            <a:r>
              <a:rPr lang="en-ZA" dirty="0"/>
              <a:t>) – da </a:t>
            </a:r>
            <a:r>
              <a:rPr lang="en-ZA" dirty="0" err="1"/>
              <a:t>mesma</a:t>
            </a:r>
            <a:r>
              <a:rPr lang="en-ZA" dirty="0"/>
              <a:t> forma </a:t>
            </a:r>
            <a:r>
              <a:rPr lang="en-ZA" dirty="0" err="1"/>
              <a:t>que</a:t>
            </a:r>
            <a:r>
              <a:rPr lang="en-ZA" dirty="0"/>
              <a:t> as </a:t>
            </a:r>
            <a:r>
              <a:rPr lang="en-ZA" dirty="0" smtClean="0"/>
              <a:t>EEPROMs, </a:t>
            </a:r>
            <a:r>
              <a:rPr lang="pt-BR" dirty="0" smtClean="0"/>
              <a:t>essas </a:t>
            </a:r>
            <a:r>
              <a:rPr lang="pt-BR" dirty="0"/>
              <a:t>são ROMs que podem ser regravadas através da aplicação de </a:t>
            </a:r>
            <a:r>
              <a:rPr lang="pt-BR" dirty="0" smtClean="0"/>
              <a:t>voltagens de </a:t>
            </a:r>
            <a:r>
              <a:rPr lang="pt-BR" dirty="0"/>
              <a:t>programações especiais. Em uso normal, essa voltagem </a:t>
            </a:r>
            <a:r>
              <a:rPr lang="pt-BR" dirty="0" smtClean="0"/>
              <a:t>não chega </a:t>
            </a:r>
            <a:r>
              <a:rPr lang="pt-BR" dirty="0"/>
              <a:t>até o </a:t>
            </a:r>
            <a:r>
              <a:rPr lang="pt-BR" i="1" dirty="0"/>
              <a:t>chip</a:t>
            </a:r>
            <a:r>
              <a:rPr lang="pt-BR" dirty="0"/>
              <a:t>, e seus dados permanecem inalteráveis. Esse é o </a:t>
            </a:r>
            <a:r>
              <a:rPr lang="pt-BR" dirty="0" smtClean="0"/>
              <a:t>tipo mais </a:t>
            </a:r>
            <a:r>
              <a:rPr lang="pt-BR" dirty="0"/>
              <a:t>recente de ROM e tem sido utilizado nas placas-mãe atuais. </a:t>
            </a:r>
            <a:r>
              <a:rPr lang="pt-BR" dirty="0" smtClean="0"/>
              <a:t>Pelo fato </a:t>
            </a:r>
            <a:r>
              <a:rPr lang="pt-BR" dirty="0"/>
              <a:t>de serem alteráveis, permitem realizar atualizações do BIOS, </a:t>
            </a:r>
            <a:r>
              <a:rPr lang="pt-BR" dirty="0" smtClean="0"/>
              <a:t>através de </a:t>
            </a:r>
            <a:r>
              <a:rPr lang="pt-BR" dirty="0"/>
              <a:t>programas especiais que ativam os seus circuitos de gravação. </a:t>
            </a:r>
            <a:r>
              <a:rPr lang="pt-BR" dirty="0" smtClean="0"/>
              <a:t>Esse programa </a:t>
            </a:r>
            <a:r>
              <a:rPr lang="pt-BR" dirty="0"/>
              <a:t>é fornecido pelo fabricante da placa-mãe.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58312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Memória</a:t>
            </a:r>
            <a:r>
              <a:rPr lang="en-ZA" dirty="0"/>
              <a:t>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RAM é a </a:t>
            </a:r>
            <a:r>
              <a:rPr lang="pt-BR" b="1" dirty="0"/>
              <a:t>memória de acesso aleatório</a:t>
            </a:r>
            <a:r>
              <a:rPr lang="pt-BR" dirty="0"/>
              <a:t>. O nome RAM vem da sigla </a:t>
            </a:r>
            <a:r>
              <a:rPr lang="pt-BR" dirty="0" smtClean="0"/>
              <a:t>em inglês </a:t>
            </a:r>
            <a:r>
              <a:rPr lang="pt-BR" dirty="0"/>
              <a:t>para </a:t>
            </a:r>
            <a:r>
              <a:rPr lang="pt-BR" i="1" dirty="0"/>
              <a:t>Random Access Memory</a:t>
            </a:r>
            <a:r>
              <a:rPr lang="pt-BR" dirty="0"/>
              <a:t>, e ela possui um tempo constante </a:t>
            </a:r>
            <a:r>
              <a:rPr lang="pt-BR" dirty="0" smtClean="0"/>
              <a:t>de </a:t>
            </a:r>
            <a:r>
              <a:rPr lang="en-ZA" dirty="0" err="1" smtClean="0"/>
              <a:t>acesso</a:t>
            </a:r>
            <a:r>
              <a:rPr lang="en-ZA" dirty="0" smtClean="0"/>
              <a:t> </a:t>
            </a:r>
            <a:r>
              <a:rPr lang="en-ZA" dirty="0"/>
              <a:t>a </a:t>
            </a:r>
            <a:r>
              <a:rPr lang="en-ZA" dirty="0" err="1"/>
              <a:t>qualquer</a:t>
            </a:r>
            <a:r>
              <a:rPr lang="en-ZA" dirty="0"/>
              <a:t> </a:t>
            </a:r>
            <a:r>
              <a:rPr lang="en-ZA" dirty="0" err="1"/>
              <a:t>endereço</a:t>
            </a:r>
            <a:r>
              <a:rPr lang="en-ZA" dirty="0" smtClean="0"/>
              <a:t>.</a:t>
            </a:r>
          </a:p>
          <a:p>
            <a:r>
              <a:rPr lang="pt-BR" dirty="0"/>
              <a:t>A memória RAM permite a execução de operações tanto de leitura como </a:t>
            </a:r>
            <a:r>
              <a:rPr lang="pt-BR" dirty="0" smtClean="0"/>
              <a:t>de escrita</a:t>
            </a:r>
            <a:r>
              <a:rPr lang="pt-BR" dirty="0"/>
              <a:t>. Outra característica fundamental desse tipo de memória é que ela </a:t>
            </a:r>
            <a:r>
              <a:rPr lang="pt-BR" dirty="0" smtClean="0"/>
              <a:t>é volátil </a:t>
            </a:r>
            <a:r>
              <a:rPr lang="pt-BR" dirty="0"/>
              <a:t>(memória volátil), ou seja, os dados nela armazenados são perdidos </a:t>
            </a:r>
            <a:r>
              <a:rPr lang="pt-BR" dirty="0" smtClean="0"/>
              <a:t>na </a:t>
            </a:r>
            <a:r>
              <a:rPr lang="en-ZA" dirty="0" err="1" smtClean="0"/>
              <a:t>ausência</a:t>
            </a:r>
            <a:r>
              <a:rPr lang="en-ZA" dirty="0" smtClean="0"/>
              <a:t> </a:t>
            </a:r>
            <a:r>
              <a:rPr lang="en-ZA" dirty="0"/>
              <a:t>de </a:t>
            </a:r>
            <a:r>
              <a:rPr lang="en-ZA" dirty="0" err="1"/>
              <a:t>energia</a:t>
            </a:r>
            <a:r>
              <a:rPr lang="en-ZA" dirty="0"/>
              <a:t> </a:t>
            </a:r>
            <a:r>
              <a:rPr lang="en-ZA" dirty="0" err="1"/>
              <a:t>elétrica</a:t>
            </a:r>
            <a:r>
              <a:rPr lang="en-ZA" dirty="0"/>
              <a:t>.</a:t>
            </a:r>
          </a:p>
          <a:p>
            <a:r>
              <a:rPr lang="pt-BR" dirty="0"/>
              <a:t>Com o passar dos anos, as memórias passaram por várias evoluções </a:t>
            </a:r>
            <a:r>
              <a:rPr lang="pt-BR" dirty="0" smtClean="0"/>
              <a:t>tecnológicas que </a:t>
            </a:r>
            <a:r>
              <a:rPr lang="pt-BR" dirty="0"/>
              <a:t>fizeram com que estas adquirissem cada vez mais </a:t>
            </a:r>
            <a:r>
              <a:rPr lang="pt-BR" dirty="0" smtClean="0"/>
              <a:t>desempenho </a:t>
            </a:r>
            <a:r>
              <a:rPr lang="en-ZA" dirty="0" smtClean="0"/>
              <a:t>e </a:t>
            </a:r>
            <a:r>
              <a:rPr lang="en-ZA" dirty="0" err="1"/>
              <a:t>capacidade</a:t>
            </a:r>
            <a:r>
              <a:rPr lang="en-ZA" dirty="0"/>
              <a:t> de </a:t>
            </a:r>
            <a:r>
              <a:rPr lang="en-ZA" dirty="0" err="1"/>
              <a:t>armazenamento</a:t>
            </a:r>
            <a:r>
              <a:rPr lang="en-Z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4949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Tipos</a:t>
            </a:r>
            <a:r>
              <a:rPr lang="en-ZA" dirty="0"/>
              <a:t> de </a:t>
            </a:r>
            <a:r>
              <a:rPr lang="en-ZA" dirty="0" err="1"/>
              <a:t>memória</a:t>
            </a:r>
            <a:r>
              <a:rPr lang="en-ZA" dirty="0"/>
              <a:t>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424936" cy="5328592"/>
          </a:xfrm>
        </p:spPr>
        <p:txBody>
          <a:bodyPr>
            <a:normAutofit lnSpcReduction="10000"/>
          </a:bodyPr>
          <a:lstStyle/>
          <a:p>
            <a:r>
              <a:rPr lang="pt-BR" sz="2400" i="1" dirty="0"/>
              <a:t>A memória RAM pode </a:t>
            </a:r>
            <a:r>
              <a:rPr lang="pt-BR" sz="2400" i="1" dirty="0" smtClean="0"/>
              <a:t>ser </a:t>
            </a:r>
            <a:r>
              <a:rPr lang="pt-BR" sz="2400" i="1" dirty="0"/>
              <a:t>de dois tipos</a:t>
            </a:r>
            <a:r>
              <a:rPr lang="pt-BR" sz="2400" i="1" dirty="0" smtClean="0"/>
              <a:t>:</a:t>
            </a:r>
          </a:p>
          <a:p>
            <a:r>
              <a:rPr lang="pt-BR" sz="2400" b="1" dirty="0"/>
              <a:t>a) SRAM </a:t>
            </a:r>
            <a:r>
              <a:rPr lang="pt-BR" sz="2400" dirty="0"/>
              <a:t>(</a:t>
            </a:r>
            <a:r>
              <a:rPr lang="pt-BR" sz="2400" i="1" dirty="0"/>
              <a:t>Static Random Access Memory</a:t>
            </a:r>
            <a:r>
              <a:rPr lang="pt-BR" sz="2400" dirty="0"/>
              <a:t>) – a SRAM ou RAM </a:t>
            </a:r>
            <a:r>
              <a:rPr lang="pt-BR" sz="2400" b="1" dirty="0"/>
              <a:t>estática </a:t>
            </a:r>
            <a:r>
              <a:rPr lang="pt-BR" sz="2400" dirty="0" smtClean="0"/>
              <a:t>é uma </a:t>
            </a:r>
            <a:r>
              <a:rPr lang="pt-BR" sz="2400" dirty="0"/>
              <a:t>memória formada por seis transistores para armazenar cada </a:t>
            </a:r>
            <a:r>
              <a:rPr lang="pt-BR" sz="2400" i="1" dirty="0"/>
              <a:t>bit</a:t>
            </a:r>
            <a:r>
              <a:rPr lang="pt-BR" sz="2400" dirty="0"/>
              <a:t>. </a:t>
            </a:r>
            <a:r>
              <a:rPr lang="pt-BR" sz="2400" dirty="0" smtClean="0"/>
              <a:t>É mais </a:t>
            </a:r>
            <a:r>
              <a:rPr lang="pt-BR" sz="2400" dirty="0"/>
              <a:t>rápida, possui maior custo e consome mais energia que a </a:t>
            </a:r>
            <a:r>
              <a:rPr lang="pt-BR" sz="2400" dirty="0" smtClean="0"/>
              <a:t>DRAM. Por </a:t>
            </a:r>
            <a:r>
              <a:rPr lang="pt-BR" sz="2400" dirty="0"/>
              <a:t>padrão a SRAM é usada em pequenas quantidades para servir </a:t>
            </a:r>
            <a:r>
              <a:rPr lang="pt-BR" sz="2400" dirty="0" smtClean="0"/>
              <a:t>como </a:t>
            </a:r>
            <a:r>
              <a:rPr lang="pt-BR" sz="2400" i="1" dirty="0" smtClean="0"/>
              <a:t>cache </a:t>
            </a:r>
            <a:r>
              <a:rPr lang="pt-BR" sz="2400" dirty="0"/>
              <a:t>entre a memória DRAM e a CPU</a:t>
            </a:r>
            <a:r>
              <a:rPr lang="pt-BR" sz="2400" dirty="0" smtClean="0"/>
              <a:t>.</a:t>
            </a:r>
          </a:p>
          <a:p>
            <a:r>
              <a:rPr lang="pt-BR" sz="2400" b="1" dirty="0"/>
              <a:t>b) DRAM </a:t>
            </a:r>
            <a:r>
              <a:rPr lang="pt-BR" sz="2400" dirty="0"/>
              <a:t>(</a:t>
            </a:r>
            <a:r>
              <a:rPr lang="pt-BR" sz="2400" i="1" dirty="0"/>
              <a:t>Dynamic Random Access Memory</a:t>
            </a:r>
            <a:r>
              <a:rPr lang="pt-BR" sz="2400" dirty="0"/>
              <a:t>) – a DRAM ou RAM </a:t>
            </a:r>
            <a:r>
              <a:rPr lang="pt-BR" sz="2400" b="1" dirty="0" smtClean="0"/>
              <a:t>dinâmica </a:t>
            </a:r>
            <a:r>
              <a:rPr lang="pt-BR" sz="2400" dirty="0" smtClean="0"/>
              <a:t>é </a:t>
            </a:r>
            <a:r>
              <a:rPr lang="pt-BR" sz="2400" dirty="0"/>
              <a:t>uma memória formada por um capacitor e um transistor para </a:t>
            </a:r>
            <a:r>
              <a:rPr lang="pt-BR" sz="2400" dirty="0" smtClean="0"/>
              <a:t>armazenar cada </a:t>
            </a:r>
            <a:r>
              <a:rPr lang="pt-BR" sz="2400" i="1" dirty="0"/>
              <a:t>bit</a:t>
            </a:r>
            <a:r>
              <a:rPr lang="pt-BR" sz="2400" dirty="0"/>
              <a:t>. É utilizada na memória principal por possuir menor </a:t>
            </a:r>
            <a:r>
              <a:rPr lang="pt-BR" sz="2400" dirty="0" smtClean="0"/>
              <a:t>custo e </a:t>
            </a:r>
            <a:r>
              <a:rPr lang="pt-BR" sz="2400" dirty="0"/>
              <a:t>consumir menos energia, apesar de ser mais lenta que a SRAM. </a:t>
            </a:r>
            <a:r>
              <a:rPr lang="pt-BR" sz="2400" dirty="0" smtClean="0"/>
              <a:t>Exige </a:t>
            </a:r>
            <a:r>
              <a:rPr lang="pt-BR" sz="2400" dirty="0"/>
              <a:t>que o conteúdo da célula seja regravado milhares de vezes por </a:t>
            </a:r>
            <a:r>
              <a:rPr lang="pt-BR" sz="2400" dirty="0" smtClean="0"/>
              <a:t>segundo (</a:t>
            </a:r>
            <a:r>
              <a:rPr lang="pt-BR" sz="2400" i="1" dirty="0" smtClean="0"/>
              <a:t>refresh</a:t>
            </a:r>
            <a:r>
              <a:rPr lang="pt-BR" sz="2400" dirty="0"/>
              <a:t>) para manter a informação no capacitor.</a:t>
            </a:r>
            <a:endParaRPr lang="en-ZA" sz="2400" i="1" dirty="0"/>
          </a:p>
        </p:txBody>
      </p:sp>
    </p:spTree>
    <p:extLst>
      <p:ext uri="{BB962C8B-B14F-4D97-AF65-F5344CB8AC3E}">
        <p14:creationId xmlns:p14="http://schemas.microsoft.com/office/powerpoint/2010/main" val="1942286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Tipos</a:t>
            </a:r>
            <a:r>
              <a:rPr lang="en-ZA" dirty="0"/>
              <a:t> de </a:t>
            </a:r>
            <a:r>
              <a:rPr lang="en-ZA" dirty="0" err="1"/>
              <a:t>memória</a:t>
            </a:r>
            <a:r>
              <a:rPr lang="en-ZA" dirty="0"/>
              <a:t> DRAM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a) DRAM </a:t>
            </a:r>
            <a:r>
              <a:rPr lang="pt-BR" dirty="0"/>
              <a:t>(</a:t>
            </a:r>
            <a:r>
              <a:rPr lang="pt-BR" i="1" dirty="0"/>
              <a:t>Dinamic </a:t>
            </a:r>
            <a:r>
              <a:rPr lang="pt-BR" dirty="0"/>
              <a:t>RAM) – a DRAM em sua arquitetura original foi </a:t>
            </a:r>
            <a:r>
              <a:rPr lang="pt-BR" dirty="0" smtClean="0"/>
              <a:t>utilizada em </a:t>
            </a:r>
            <a:r>
              <a:rPr lang="pt-BR" dirty="0"/>
              <a:t>PCs XT e AT. A partir dos 386 o que se fez foi introduzir </a:t>
            </a:r>
            <a:r>
              <a:rPr lang="pt-BR" dirty="0" smtClean="0"/>
              <a:t>melhoramentos na </a:t>
            </a:r>
            <a:r>
              <a:rPr lang="pt-BR" dirty="0"/>
              <a:t>arquitetura das memórias DRAM, criando assim novos </a:t>
            </a:r>
            <a:r>
              <a:rPr lang="pt-BR" dirty="0" smtClean="0"/>
              <a:t>modelos mais </a:t>
            </a:r>
            <a:r>
              <a:rPr lang="pt-BR" dirty="0"/>
              <a:t>avançados. Os tempos de acesso destas memórias variavam </a:t>
            </a:r>
            <a:r>
              <a:rPr lang="pt-BR" dirty="0" smtClean="0"/>
              <a:t>de acordo </a:t>
            </a:r>
            <a:r>
              <a:rPr lang="pt-BR" dirty="0"/>
              <a:t>com o </a:t>
            </a:r>
            <a:r>
              <a:rPr lang="pt-BR" i="1" dirty="0"/>
              <a:t>clock </a:t>
            </a:r>
            <a:r>
              <a:rPr lang="pt-BR" dirty="0"/>
              <a:t>do processador, geralmente entre 80 e 120 ns. </a:t>
            </a:r>
            <a:r>
              <a:rPr lang="pt-BR" dirty="0" smtClean="0"/>
              <a:t>Cada </a:t>
            </a:r>
            <a:r>
              <a:rPr lang="en-ZA" dirty="0" err="1" smtClean="0"/>
              <a:t>módulo</a:t>
            </a:r>
            <a:r>
              <a:rPr lang="en-ZA" dirty="0" smtClean="0"/>
              <a:t> </a:t>
            </a:r>
            <a:r>
              <a:rPr lang="en-ZA" dirty="0" err="1"/>
              <a:t>manipulava</a:t>
            </a:r>
            <a:r>
              <a:rPr lang="en-ZA" dirty="0"/>
              <a:t> 8 </a:t>
            </a:r>
            <a:r>
              <a:rPr lang="en-ZA" i="1" dirty="0"/>
              <a:t>bits </a:t>
            </a:r>
            <a:r>
              <a:rPr lang="en-ZA" dirty="0" err="1"/>
              <a:t>por</a:t>
            </a:r>
            <a:r>
              <a:rPr lang="en-ZA" dirty="0"/>
              <a:t> </a:t>
            </a:r>
            <a:r>
              <a:rPr lang="en-ZA" dirty="0" err="1"/>
              <a:t>vez</a:t>
            </a:r>
            <a:r>
              <a:rPr lang="en-ZA" dirty="0"/>
              <a:t>.</a:t>
            </a:r>
          </a:p>
          <a:p>
            <a:r>
              <a:rPr lang="pt-BR" b="1" dirty="0"/>
              <a:t>b) FPM DRAM </a:t>
            </a:r>
            <a:r>
              <a:rPr lang="pt-BR" dirty="0"/>
              <a:t>(</a:t>
            </a:r>
            <a:r>
              <a:rPr lang="pt-BR" i="1" dirty="0"/>
              <a:t>Fast Page Mode</a:t>
            </a:r>
            <a:r>
              <a:rPr lang="pt-BR" dirty="0"/>
              <a:t>) – o acesso à memória foi otimizado </a:t>
            </a:r>
            <a:r>
              <a:rPr lang="pt-BR" dirty="0" smtClean="0"/>
              <a:t>de modo </a:t>
            </a:r>
            <a:r>
              <a:rPr lang="pt-BR" dirty="0"/>
              <a:t>a evitar que, para células de memória consecutivas, fosse </a:t>
            </a:r>
            <a:r>
              <a:rPr lang="pt-BR" dirty="0" smtClean="0"/>
              <a:t>necessário retransmitir </a:t>
            </a:r>
            <a:r>
              <a:rPr lang="pt-BR" dirty="0"/>
              <a:t>o sinal de linha. Os tempos de acesso destas </a:t>
            </a:r>
            <a:r>
              <a:rPr lang="pt-BR" dirty="0" smtClean="0"/>
              <a:t>memórias eram </a:t>
            </a:r>
            <a:r>
              <a:rPr lang="pt-BR" dirty="0"/>
              <a:t>geralmente de 90 a 110 ns. Utilizada nos computadores 386, </a:t>
            </a:r>
            <a:r>
              <a:rPr lang="pt-BR" dirty="0" smtClean="0"/>
              <a:t>486 e </a:t>
            </a:r>
            <a:r>
              <a:rPr lang="pt-BR" dirty="0"/>
              <a:t>similares com módulos de 8 e 32 </a:t>
            </a:r>
            <a:r>
              <a:rPr lang="pt-BR" i="1" dirty="0"/>
              <a:t>bits</a:t>
            </a:r>
            <a:r>
              <a:rPr lang="pt-BR" dirty="0"/>
              <a:t>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15146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85000" lnSpcReduction="10000"/>
          </a:bodyPr>
          <a:lstStyle/>
          <a:p>
            <a:r>
              <a:rPr lang="pt-BR" b="1" dirty="0"/>
              <a:t>c) EDO DRAM </a:t>
            </a:r>
            <a:r>
              <a:rPr lang="pt-BR" dirty="0"/>
              <a:t>(</a:t>
            </a:r>
            <a:r>
              <a:rPr lang="pt-BR" i="1" dirty="0"/>
              <a:t>Extended Data Out</a:t>
            </a:r>
            <a:r>
              <a:rPr lang="pt-BR" dirty="0"/>
              <a:t>) – nesse tipo de memória, </a:t>
            </a:r>
            <a:r>
              <a:rPr lang="pt-BR" dirty="0" smtClean="0"/>
              <a:t>enquanto o </a:t>
            </a:r>
            <a:r>
              <a:rPr lang="pt-BR" dirty="0"/>
              <a:t>processador fosse lendo um dado, a memória já procuraria outro. </a:t>
            </a:r>
            <a:r>
              <a:rPr lang="pt-BR" dirty="0" smtClean="0"/>
              <a:t>Os tempos </a:t>
            </a:r>
            <a:r>
              <a:rPr lang="pt-BR" dirty="0"/>
              <a:t>de acesso destas memórias eram geralmente de 60 e 70 ns. </a:t>
            </a:r>
            <a:r>
              <a:rPr lang="pt-BR" dirty="0" smtClean="0"/>
              <a:t>Utilizada nos </a:t>
            </a:r>
            <a:r>
              <a:rPr lang="pt-BR" dirty="0"/>
              <a:t>computadores Pentium, Pentium MMX e similares com </a:t>
            </a:r>
            <a:r>
              <a:rPr lang="pt-BR" dirty="0" smtClean="0"/>
              <a:t>módulos </a:t>
            </a:r>
            <a:r>
              <a:rPr lang="en-ZA" dirty="0" smtClean="0"/>
              <a:t>de </a:t>
            </a:r>
            <a:r>
              <a:rPr lang="en-ZA" dirty="0"/>
              <a:t>32 </a:t>
            </a:r>
            <a:r>
              <a:rPr lang="en-ZA" i="1" dirty="0"/>
              <a:t>bits</a:t>
            </a:r>
            <a:r>
              <a:rPr lang="en-ZA" dirty="0"/>
              <a:t>.</a:t>
            </a:r>
          </a:p>
          <a:p>
            <a:r>
              <a:rPr lang="pt-BR" b="1" dirty="0"/>
              <a:t>d) SDRAM </a:t>
            </a:r>
            <a:r>
              <a:rPr lang="pt-BR" dirty="0"/>
              <a:t>(</a:t>
            </a:r>
            <a:r>
              <a:rPr lang="pt-BR" i="1" dirty="0"/>
              <a:t>Synchronous </a:t>
            </a:r>
            <a:r>
              <a:rPr lang="pt-BR" dirty="0"/>
              <a:t>DRAM) – tem seu funcionamento </a:t>
            </a:r>
            <a:r>
              <a:rPr lang="pt-BR" dirty="0" smtClean="0"/>
              <a:t>sincronizado com </a:t>
            </a:r>
            <a:r>
              <a:rPr lang="pt-BR" dirty="0"/>
              <a:t>o do </a:t>
            </a:r>
            <a:r>
              <a:rPr lang="pt-BR" i="1" dirty="0"/>
              <a:t>chipset </a:t>
            </a:r>
            <a:r>
              <a:rPr lang="pt-BR" dirty="0"/>
              <a:t>através de um </a:t>
            </a:r>
            <a:r>
              <a:rPr lang="pt-BR" i="1" dirty="0"/>
              <a:t>clock</a:t>
            </a:r>
            <a:r>
              <a:rPr lang="pt-BR" dirty="0"/>
              <a:t>. Por exemplo, em um </a:t>
            </a:r>
            <a:r>
              <a:rPr lang="pt-BR" dirty="0" smtClean="0"/>
              <a:t>processador com </a:t>
            </a:r>
            <a:r>
              <a:rPr lang="pt-BR" i="1" dirty="0"/>
              <a:t>clock </a:t>
            </a:r>
            <a:r>
              <a:rPr lang="pt-BR" dirty="0"/>
              <a:t>externo de 100 MHz, o </a:t>
            </a:r>
            <a:r>
              <a:rPr lang="pt-BR" i="1" dirty="0"/>
              <a:t>chipset </a:t>
            </a:r>
            <a:r>
              <a:rPr lang="pt-BR" dirty="0"/>
              <a:t>também opera em 100 </a:t>
            </a:r>
            <a:r>
              <a:rPr lang="pt-BR" dirty="0" smtClean="0"/>
              <a:t>MHz, assim </a:t>
            </a:r>
            <a:r>
              <a:rPr lang="pt-BR" dirty="0"/>
              <a:t>como a SDRAM. Os tempos de acesso destas memórias eram </a:t>
            </a:r>
            <a:r>
              <a:rPr lang="pt-BR" dirty="0" smtClean="0"/>
              <a:t>geralmente entre </a:t>
            </a:r>
            <a:r>
              <a:rPr lang="pt-BR" dirty="0"/>
              <a:t>6 e 15 </a:t>
            </a:r>
            <a:r>
              <a:rPr lang="pt-BR" dirty="0" smtClean="0"/>
              <a:t>ns. Utilizada </a:t>
            </a:r>
            <a:r>
              <a:rPr lang="pt-BR" dirty="0"/>
              <a:t>nos computadores Pentium, </a:t>
            </a:r>
            <a:r>
              <a:rPr lang="pt-BR" dirty="0" smtClean="0"/>
              <a:t>Pentium MMX </a:t>
            </a:r>
            <a:r>
              <a:rPr lang="pt-BR" dirty="0"/>
              <a:t>e superiores, com módulos de 64 </a:t>
            </a:r>
            <a:r>
              <a:rPr lang="pt-BR" i="1" dirty="0"/>
              <a:t>bits</a:t>
            </a:r>
            <a:r>
              <a:rPr lang="pt-BR" dirty="0"/>
              <a:t>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17062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6120680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e) RDRAM </a:t>
            </a:r>
            <a:r>
              <a:rPr lang="pt-BR" dirty="0"/>
              <a:t>(</a:t>
            </a:r>
            <a:r>
              <a:rPr lang="pt-BR" i="1" dirty="0"/>
              <a:t>Rambus </a:t>
            </a:r>
            <a:r>
              <a:rPr lang="pt-BR" dirty="0"/>
              <a:t>DRAM) – opera tipicamente em 400 MHz, </a:t>
            </a:r>
            <a:r>
              <a:rPr lang="pt-BR" dirty="0" smtClean="0"/>
              <a:t>realizando duas </a:t>
            </a:r>
            <a:r>
              <a:rPr lang="pt-BR" dirty="0"/>
              <a:t>transferências por ciclo de </a:t>
            </a:r>
            <a:r>
              <a:rPr lang="pt-BR" i="1" dirty="0"/>
              <a:t>clock</a:t>
            </a:r>
            <a:r>
              <a:rPr lang="pt-BR" dirty="0"/>
              <a:t>. Utilizada nos </a:t>
            </a:r>
            <a:r>
              <a:rPr lang="pt-BR" dirty="0" smtClean="0"/>
              <a:t>computadores Pentium </a:t>
            </a:r>
            <a:r>
              <a:rPr lang="pt-BR" dirty="0"/>
              <a:t>IV e XEON, com Módulos de 16 </a:t>
            </a:r>
            <a:r>
              <a:rPr lang="pt-BR" i="1" dirty="0"/>
              <a:t>bits </a:t>
            </a:r>
            <a:r>
              <a:rPr lang="pt-BR" dirty="0" smtClean="0"/>
              <a:t>a uma </a:t>
            </a:r>
            <a:r>
              <a:rPr lang="pt-BR" dirty="0"/>
              <a:t>taxa de </a:t>
            </a:r>
            <a:r>
              <a:rPr lang="pt-BR" dirty="0" smtClean="0"/>
              <a:t>transferência </a:t>
            </a:r>
            <a:r>
              <a:rPr lang="en-ZA" dirty="0" err="1" smtClean="0"/>
              <a:t>típica</a:t>
            </a:r>
            <a:r>
              <a:rPr lang="en-ZA" dirty="0" smtClean="0"/>
              <a:t> </a:t>
            </a:r>
            <a:r>
              <a:rPr lang="en-ZA" dirty="0"/>
              <a:t>de 1,6 GB/s.</a:t>
            </a:r>
          </a:p>
          <a:p>
            <a:r>
              <a:rPr lang="pt-BR" b="1" dirty="0"/>
              <a:t>f) DDR SDRAM </a:t>
            </a:r>
            <a:r>
              <a:rPr lang="pt-BR" dirty="0"/>
              <a:t>(</a:t>
            </a:r>
            <a:r>
              <a:rPr lang="pt-BR" i="1" dirty="0"/>
              <a:t>Double Data Rate</a:t>
            </a:r>
            <a:r>
              <a:rPr lang="pt-BR" dirty="0"/>
              <a:t>) – em um processador com </a:t>
            </a:r>
            <a:r>
              <a:rPr lang="pt-BR" i="1" dirty="0"/>
              <a:t>clock </a:t>
            </a:r>
            <a:r>
              <a:rPr lang="pt-BR" dirty="0" smtClean="0"/>
              <a:t>externo de </a:t>
            </a:r>
            <a:r>
              <a:rPr lang="pt-BR" dirty="0"/>
              <a:t>100 MHz, o </a:t>
            </a:r>
            <a:r>
              <a:rPr lang="pt-BR" i="1" dirty="0"/>
              <a:t>chipset </a:t>
            </a:r>
            <a:r>
              <a:rPr lang="pt-BR" dirty="0"/>
              <a:t>também opera em 100 MHz, assim como a </a:t>
            </a:r>
            <a:r>
              <a:rPr lang="pt-BR" dirty="0" smtClean="0"/>
              <a:t>DDR SDRAM</a:t>
            </a:r>
            <a:r>
              <a:rPr lang="pt-BR" dirty="0"/>
              <a:t>. A diferença para a SDRAM comum é que a DDR realiza </a:t>
            </a:r>
            <a:r>
              <a:rPr lang="pt-BR" dirty="0" smtClean="0"/>
              <a:t>duas </a:t>
            </a:r>
            <a:r>
              <a:rPr lang="pt-BR" dirty="0"/>
              <a:t>transferências por ciclo de </a:t>
            </a:r>
            <a:r>
              <a:rPr lang="pt-BR" i="1" dirty="0"/>
              <a:t>clock</a:t>
            </a:r>
            <a:r>
              <a:rPr lang="pt-BR" dirty="0"/>
              <a:t>. Utilizada nos computadores </a:t>
            </a:r>
            <a:r>
              <a:rPr lang="pt-BR" dirty="0" smtClean="0"/>
              <a:t>Athlon, Pentium </a:t>
            </a:r>
            <a:r>
              <a:rPr lang="pt-BR" dirty="0"/>
              <a:t>IV, Celeron, Duron e similares, com módulos de 64 </a:t>
            </a:r>
            <a:r>
              <a:rPr lang="pt-BR" i="1" dirty="0"/>
              <a:t>bits </a:t>
            </a:r>
            <a:r>
              <a:rPr lang="pt-BR" dirty="0"/>
              <a:t>e </a:t>
            </a:r>
            <a:r>
              <a:rPr lang="pt-BR" dirty="0" smtClean="0"/>
              <a:t>uma taxa </a:t>
            </a:r>
            <a:r>
              <a:rPr lang="pt-BR" dirty="0"/>
              <a:t>de transferência típica de 1,6 GB/s.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27871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g) DDR2 SDRAM </a:t>
            </a:r>
            <a:r>
              <a:rPr lang="pt-BR" dirty="0"/>
              <a:t>– operam de 100 a 325 MHz realizando quatro </a:t>
            </a:r>
            <a:r>
              <a:rPr lang="pt-BR" dirty="0" smtClean="0"/>
              <a:t>transferências por </a:t>
            </a:r>
            <a:r>
              <a:rPr lang="pt-BR" dirty="0"/>
              <a:t>ciclo de </a:t>
            </a:r>
            <a:r>
              <a:rPr lang="pt-BR" i="1" dirty="0"/>
              <a:t>clock</a:t>
            </a:r>
            <a:r>
              <a:rPr lang="pt-BR" dirty="0"/>
              <a:t>. Utilizada nos computadores Pentium IV </a:t>
            </a:r>
            <a:r>
              <a:rPr lang="pt-BR" dirty="0" smtClean="0"/>
              <a:t>e superiores</a:t>
            </a:r>
            <a:r>
              <a:rPr lang="pt-BR" dirty="0"/>
              <a:t>, com módulos de 64 </a:t>
            </a:r>
            <a:r>
              <a:rPr lang="pt-BR" i="1" dirty="0"/>
              <a:t>bits</a:t>
            </a:r>
            <a:r>
              <a:rPr lang="pt-BR" dirty="0"/>
              <a:t>, com uma taxa de transferência </a:t>
            </a:r>
            <a:r>
              <a:rPr lang="pt-BR" dirty="0" smtClean="0"/>
              <a:t>entre 3,2 </a:t>
            </a:r>
            <a:r>
              <a:rPr lang="pt-BR" dirty="0"/>
              <a:t>GB/s e 10,4 GB/s.</a:t>
            </a:r>
          </a:p>
          <a:p>
            <a:r>
              <a:rPr lang="pt-BR" b="1" dirty="0"/>
              <a:t>h) DDR3 SDRAM </a:t>
            </a:r>
            <a:r>
              <a:rPr lang="pt-BR" dirty="0"/>
              <a:t>– operam entre 100 e 266 MHz realizando oito </a:t>
            </a:r>
            <a:r>
              <a:rPr lang="pt-BR" dirty="0" smtClean="0"/>
              <a:t>transferências por </a:t>
            </a:r>
            <a:r>
              <a:rPr lang="pt-BR" dirty="0"/>
              <a:t>ciclo de </a:t>
            </a:r>
            <a:r>
              <a:rPr lang="pt-BR" i="1" dirty="0"/>
              <a:t>clock</a:t>
            </a:r>
            <a:r>
              <a:rPr lang="pt-BR" dirty="0"/>
              <a:t>. Utilizada nos computadores Core2Duo e </a:t>
            </a:r>
            <a:r>
              <a:rPr lang="pt-BR" dirty="0" smtClean="0"/>
              <a:t>superiores, com </a:t>
            </a:r>
            <a:r>
              <a:rPr lang="pt-BR" dirty="0"/>
              <a:t>módulos de 64 </a:t>
            </a:r>
            <a:r>
              <a:rPr lang="pt-BR" i="1" dirty="0"/>
              <a:t>bits </a:t>
            </a:r>
            <a:r>
              <a:rPr lang="pt-BR" dirty="0"/>
              <a:t>a uma taxa de transferência entre </a:t>
            </a:r>
            <a:r>
              <a:rPr lang="pt-BR" dirty="0" smtClean="0"/>
              <a:t>6,4 </a:t>
            </a:r>
            <a:r>
              <a:rPr lang="en-ZA" dirty="0" smtClean="0"/>
              <a:t>GB/s </a:t>
            </a:r>
            <a:r>
              <a:rPr lang="en-ZA" dirty="0"/>
              <a:t>e 19,2 GB/s.</a:t>
            </a:r>
          </a:p>
        </p:txBody>
      </p:sp>
    </p:spTree>
    <p:extLst>
      <p:ext uri="{BB962C8B-B14F-4D97-AF65-F5344CB8AC3E}">
        <p14:creationId xmlns:p14="http://schemas.microsoft.com/office/powerpoint/2010/main" val="336446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Encapsulamentos</a:t>
            </a:r>
            <a:r>
              <a:rPr lang="en-ZA" b="1" dirty="0"/>
              <a:t> de </a:t>
            </a:r>
            <a:r>
              <a:rPr lang="en-ZA" b="1" dirty="0" err="1"/>
              <a:t>memória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b="1" dirty="0"/>
              <a:t>a) DIP </a:t>
            </a:r>
            <a:r>
              <a:rPr lang="pt-BR" dirty="0"/>
              <a:t>(</a:t>
            </a:r>
            <a:r>
              <a:rPr lang="pt-BR" i="1" dirty="0"/>
              <a:t>Dual In-line Package</a:t>
            </a:r>
            <a:r>
              <a:rPr lang="pt-BR" dirty="0"/>
              <a:t>) – como possui terminais de contato de </a:t>
            </a:r>
            <a:r>
              <a:rPr lang="pt-BR" dirty="0" smtClean="0"/>
              <a:t>grande espessura</a:t>
            </a:r>
            <a:r>
              <a:rPr lang="pt-BR" dirty="0"/>
              <a:t>, seu encaixe ou solda em placas pode ser feita facilmente </a:t>
            </a:r>
            <a:r>
              <a:rPr lang="pt-BR" dirty="0" smtClean="0"/>
              <a:t>de </a:t>
            </a:r>
            <a:r>
              <a:rPr lang="en-ZA" dirty="0" smtClean="0"/>
              <a:t>forma </a:t>
            </a:r>
            <a:r>
              <a:rPr lang="en-ZA" dirty="0"/>
              <a:t>manual.</a:t>
            </a:r>
          </a:p>
          <a:p>
            <a:r>
              <a:rPr lang="pt-BR" b="1" dirty="0"/>
              <a:t>b) PLCC </a:t>
            </a:r>
            <a:r>
              <a:rPr lang="pt-BR" dirty="0"/>
              <a:t>(</a:t>
            </a:r>
            <a:r>
              <a:rPr lang="pt-BR" i="1" dirty="0"/>
              <a:t>Plastic Leaded Chip Carrier</a:t>
            </a:r>
            <a:r>
              <a:rPr lang="pt-BR" dirty="0"/>
              <a:t>) – possuem terminais nos quatro </a:t>
            </a:r>
            <a:r>
              <a:rPr lang="pt-BR" dirty="0" smtClean="0"/>
              <a:t>lados do </a:t>
            </a:r>
            <a:r>
              <a:rPr lang="pt-BR" dirty="0"/>
              <a:t>circuito e são instalados em soquetes apropriados.</a:t>
            </a:r>
          </a:p>
          <a:p>
            <a:r>
              <a:rPr lang="pt-BR" b="1" dirty="0"/>
              <a:t>c) SOJ </a:t>
            </a:r>
            <a:r>
              <a:rPr lang="pt-BR" dirty="0"/>
              <a:t>(</a:t>
            </a:r>
            <a:r>
              <a:rPr lang="pt-BR" i="1" dirty="0"/>
              <a:t>Small Outline J-Lead</a:t>
            </a:r>
            <a:r>
              <a:rPr lang="pt-BR" dirty="0"/>
              <a:t>) – recebe este nome devido ao formato dos </a:t>
            </a:r>
            <a:r>
              <a:rPr lang="pt-BR" dirty="0" smtClean="0"/>
              <a:t>terminais de </a:t>
            </a:r>
            <a:r>
              <a:rPr lang="pt-BR" dirty="0"/>
              <a:t>contato parecer com a letra ‘J’. Sua forma de fixação em </a:t>
            </a:r>
            <a:r>
              <a:rPr lang="pt-BR" dirty="0" smtClean="0"/>
              <a:t>placas é </a:t>
            </a:r>
            <a:r>
              <a:rPr lang="pt-BR" dirty="0"/>
              <a:t>feita através de solda, não requerendo furos na superfície do dispositivo.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63777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20680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d) TSOP </a:t>
            </a:r>
            <a:r>
              <a:rPr lang="pt-BR" dirty="0"/>
              <a:t>(</a:t>
            </a:r>
            <a:r>
              <a:rPr lang="pt-BR" i="1" dirty="0"/>
              <a:t>Thin Small Outline Package</a:t>
            </a:r>
            <a:r>
              <a:rPr lang="pt-BR" dirty="0"/>
              <a:t>) – encapsulamento cuja espessura </a:t>
            </a:r>
            <a:r>
              <a:rPr lang="pt-BR" dirty="0" smtClean="0"/>
              <a:t>é bastante </a:t>
            </a:r>
            <a:r>
              <a:rPr lang="pt-BR" dirty="0"/>
              <a:t>reduzida em relação aos padrões anteriormente (cerca de </a:t>
            </a:r>
            <a:r>
              <a:rPr lang="pt-BR" dirty="0" smtClean="0"/>
              <a:t>1/3 menor </a:t>
            </a:r>
            <a:r>
              <a:rPr lang="pt-BR" dirty="0"/>
              <a:t>que o SOJ). Seus terminais de contato são menores e mais </a:t>
            </a:r>
            <a:r>
              <a:rPr lang="pt-BR" dirty="0" smtClean="0"/>
              <a:t>finos, diminuindo </a:t>
            </a:r>
            <a:r>
              <a:rPr lang="pt-BR" dirty="0"/>
              <a:t>a incidência de interferência na comunicação. É usado em </a:t>
            </a:r>
            <a:r>
              <a:rPr lang="pt-BR" dirty="0" smtClean="0"/>
              <a:t>módulos de </a:t>
            </a:r>
            <a:r>
              <a:rPr lang="pt-BR" dirty="0"/>
              <a:t>memória SDRAM e DDR. Há uma variação desse </a:t>
            </a:r>
            <a:r>
              <a:rPr lang="pt-BR" dirty="0" smtClean="0"/>
              <a:t>encapsulamento chamado </a:t>
            </a:r>
            <a:r>
              <a:rPr lang="pt-BR" dirty="0"/>
              <a:t>STSOP (</a:t>
            </a:r>
            <a:r>
              <a:rPr lang="pt-BR" i="1" dirty="0"/>
              <a:t>Shrink Thin Small Outline Package</a:t>
            </a:r>
            <a:r>
              <a:rPr lang="pt-BR" dirty="0"/>
              <a:t>) que é ainda mais fino.</a:t>
            </a:r>
          </a:p>
          <a:p>
            <a:r>
              <a:rPr lang="pt-BR" b="1" dirty="0"/>
              <a:t>e) CSP </a:t>
            </a:r>
            <a:r>
              <a:rPr lang="pt-BR" dirty="0"/>
              <a:t>(</a:t>
            </a:r>
            <a:r>
              <a:rPr lang="pt-BR" i="1" dirty="0"/>
              <a:t>Chip Scale Package</a:t>
            </a:r>
            <a:r>
              <a:rPr lang="pt-BR" dirty="0"/>
              <a:t>) – mais recente, o encapsulamento CSP se </a:t>
            </a:r>
            <a:r>
              <a:rPr lang="pt-BR" dirty="0" smtClean="0"/>
              <a:t>destaca por </a:t>
            </a:r>
            <a:r>
              <a:rPr lang="pt-BR" dirty="0"/>
              <a:t>ser fino e por não utilizar pinos de contato. Ao invés </a:t>
            </a:r>
            <a:r>
              <a:rPr lang="pt-BR" dirty="0" smtClean="0"/>
              <a:t>disso, utiliza </a:t>
            </a:r>
            <a:r>
              <a:rPr lang="pt-BR" dirty="0"/>
              <a:t>um tipo de encaixe chamado BGA (</a:t>
            </a:r>
            <a:r>
              <a:rPr lang="pt-BR" i="1" dirty="0"/>
              <a:t>Ball Grid Array</a:t>
            </a:r>
            <a:r>
              <a:rPr lang="pt-BR" dirty="0"/>
              <a:t>). É utilizado </a:t>
            </a:r>
            <a:r>
              <a:rPr lang="pt-BR" dirty="0" smtClean="0"/>
              <a:t>em módulos </a:t>
            </a:r>
            <a:r>
              <a:rPr lang="pt-BR" dirty="0"/>
              <a:t>como DDR2 e DDR3.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21278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b="1" dirty="0" err="1"/>
              <a:t>Principais</a:t>
            </a:r>
            <a:r>
              <a:rPr lang="en-ZA" b="1" dirty="0"/>
              <a:t> </a:t>
            </a:r>
            <a:r>
              <a:rPr lang="en-ZA" b="1" dirty="0" err="1"/>
              <a:t>tipos</a:t>
            </a:r>
            <a:r>
              <a:rPr lang="en-ZA" b="1" dirty="0"/>
              <a:t> de </a:t>
            </a:r>
            <a:r>
              <a:rPr lang="en-ZA" b="1" dirty="0" err="1"/>
              <a:t>encapsulamento</a:t>
            </a:r>
            <a:endParaRPr lang="en-ZA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60848"/>
            <a:ext cx="840850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3716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Módulos</a:t>
            </a:r>
            <a:r>
              <a:rPr lang="en-ZA" b="1" dirty="0"/>
              <a:t> de </a:t>
            </a:r>
            <a:r>
              <a:rPr lang="en-ZA" b="1" dirty="0" err="1"/>
              <a:t>memória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módulo de memória, vulgarmente conhecido como pente, é uma </a:t>
            </a:r>
            <a:r>
              <a:rPr lang="pt-BR" dirty="0" smtClean="0"/>
              <a:t>pequena placa </a:t>
            </a:r>
            <a:r>
              <a:rPr lang="pt-BR" dirty="0"/>
              <a:t>onde são instalados os encapsulamentos de memória. Essa placa </a:t>
            </a:r>
            <a:r>
              <a:rPr lang="pt-BR" dirty="0" smtClean="0"/>
              <a:t>é encaixada </a:t>
            </a:r>
            <a:r>
              <a:rPr lang="pt-BR" dirty="0"/>
              <a:t>na placa-mãe por meio de encaixes (</a:t>
            </a:r>
            <a:r>
              <a:rPr lang="pt-BR" i="1" dirty="0"/>
              <a:t>slots</a:t>
            </a:r>
            <a:r>
              <a:rPr lang="pt-BR" dirty="0"/>
              <a:t>) específicos </a:t>
            </a:r>
            <a:r>
              <a:rPr lang="pt-BR" dirty="0" smtClean="0"/>
              <a:t>para isso.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4472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 err="1"/>
              <a:t>P</a:t>
            </a:r>
            <a:r>
              <a:rPr lang="en-ZA" b="1" dirty="0" err="1" smtClean="0"/>
              <a:t>rincipais</a:t>
            </a:r>
            <a:r>
              <a:rPr lang="en-ZA" b="1" dirty="0" smtClean="0"/>
              <a:t> </a:t>
            </a:r>
            <a:r>
              <a:rPr lang="en-ZA" b="1" dirty="0" err="1"/>
              <a:t>módulos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/>
              <a:t>a) SIPP </a:t>
            </a:r>
            <a:r>
              <a:rPr lang="pt-BR" dirty="0"/>
              <a:t>(</a:t>
            </a:r>
            <a:r>
              <a:rPr lang="pt-BR" i="1" dirty="0"/>
              <a:t>Single In-line Pins Package</a:t>
            </a:r>
            <a:r>
              <a:rPr lang="pt-BR" dirty="0"/>
              <a:t>) – foi um dos primeiros tipos de </a:t>
            </a:r>
            <a:r>
              <a:rPr lang="pt-BR" dirty="0" smtClean="0"/>
              <a:t>módulos que </a:t>
            </a:r>
            <a:r>
              <a:rPr lang="pt-BR" dirty="0"/>
              <a:t>chegaram ao mercado, formado por </a:t>
            </a:r>
            <a:r>
              <a:rPr lang="pt-BR" i="1" dirty="0"/>
              <a:t>chips </a:t>
            </a:r>
            <a:r>
              <a:rPr lang="pt-BR" dirty="0"/>
              <a:t>com encapsulamento </a:t>
            </a:r>
            <a:r>
              <a:rPr lang="pt-BR" dirty="0" smtClean="0"/>
              <a:t>DIP, geralmente </a:t>
            </a:r>
            <a:r>
              <a:rPr lang="pt-BR" dirty="0"/>
              <a:t>soldados diretamente na placa-mãe.</a:t>
            </a:r>
          </a:p>
          <a:p>
            <a:r>
              <a:rPr lang="pt-BR" b="1" dirty="0"/>
              <a:t>b) SIMM </a:t>
            </a:r>
            <a:r>
              <a:rPr lang="pt-BR" dirty="0"/>
              <a:t>(</a:t>
            </a:r>
            <a:r>
              <a:rPr lang="pt-BR" i="1" dirty="0"/>
              <a:t>Single In-line Memory Module</a:t>
            </a:r>
            <a:r>
              <a:rPr lang="pt-BR" dirty="0"/>
              <a:t>) – módulos deste tipo eram </a:t>
            </a:r>
            <a:r>
              <a:rPr lang="pt-BR" dirty="0" smtClean="0"/>
              <a:t>encaixados na </a:t>
            </a:r>
            <a:r>
              <a:rPr lang="pt-BR" dirty="0"/>
              <a:t>placa-mãe. A primeira versão continha 30 terminais de </a:t>
            </a:r>
            <a:r>
              <a:rPr lang="pt-BR" dirty="0" smtClean="0"/>
              <a:t>contato (SIMM </a:t>
            </a:r>
            <a:r>
              <a:rPr lang="pt-BR" dirty="0"/>
              <a:t>de 30 vias) e era formada por um conjunto de 8 </a:t>
            </a:r>
            <a:r>
              <a:rPr lang="pt-BR" i="1" dirty="0" smtClean="0"/>
              <a:t>chips. </a:t>
            </a:r>
            <a:r>
              <a:rPr lang="pt-BR" dirty="0" smtClean="0"/>
              <a:t>Dessa </a:t>
            </a:r>
            <a:r>
              <a:rPr lang="pt-BR" dirty="0"/>
              <a:t>forma, podiam transferir um </a:t>
            </a:r>
            <a:r>
              <a:rPr lang="pt-BR" i="1" dirty="0"/>
              <a:t>byte </a:t>
            </a:r>
            <a:r>
              <a:rPr lang="pt-BR" dirty="0"/>
              <a:t>por ciclo de </a:t>
            </a:r>
            <a:r>
              <a:rPr lang="pt-BR" i="1" dirty="0" smtClean="0"/>
              <a:t>clock</a:t>
            </a:r>
            <a:r>
              <a:rPr lang="pt-BR" dirty="0" smtClean="0"/>
              <a:t>. Posteriormente</a:t>
            </a:r>
            <a:r>
              <a:rPr lang="pt-BR" dirty="0"/>
              <a:t>, surgiu uma versão com 72 pinos (SIMM de 72 vias), </a:t>
            </a:r>
            <a:r>
              <a:rPr lang="pt-BR" dirty="0" smtClean="0"/>
              <a:t>capaz de </a:t>
            </a:r>
            <a:r>
              <a:rPr lang="pt-BR" dirty="0"/>
              <a:t>transferir 32 </a:t>
            </a:r>
            <a:r>
              <a:rPr lang="pt-BR" i="1" dirty="0"/>
              <a:t>bits </a:t>
            </a:r>
            <a:r>
              <a:rPr lang="pt-BR" dirty="0"/>
              <a:t>por vez. Existiam módulos SIMM de 30 vias </a:t>
            </a:r>
            <a:r>
              <a:rPr lang="pt-BR" dirty="0" smtClean="0"/>
              <a:t>com capacidades </a:t>
            </a:r>
            <a:r>
              <a:rPr lang="pt-BR" dirty="0"/>
              <a:t>desde 1 MB até 16 MB e módulos SIMM de 72 vias </a:t>
            </a:r>
            <a:r>
              <a:rPr lang="pt-BR" dirty="0" smtClean="0"/>
              <a:t>com capacidades </a:t>
            </a:r>
            <a:r>
              <a:rPr lang="pt-BR" dirty="0"/>
              <a:t>de 4 MB a 64 MB.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51686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lnSpcReduction="10000"/>
          </a:bodyPr>
          <a:lstStyle/>
          <a:p>
            <a:r>
              <a:rPr lang="en-ZA" b="1" dirty="0"/>
              <a:t>c) DIMM </a:t>
            </a:r>
            <a:r>
              <a:rPr lang="en-ZA" dirty="0"/>
              <a:t>(</a:t>
            </a:r>
            <a:r>
              <a:rPr lang="en-ZA" i="1" dirty="0"/>
              <a:t>Double In-line Memory Module</a:t>
            </a:r>
            <a:r>
              <a:rPr lang="en-ZA" dirty="0"/>
              <a:t>) – </a:t>
            </a:r>
            <a:r>
              <a:rPr lang="en-ZA" dirty="0" err="1"/>
              <a:t>os</a:t>
            </a:r>
            <a:r>
              <a:rPr lang="en-ZA" dirty="0"/>
              <a:t> </a:t>
            </a:r>
            <a:r>
              <a:rPr lang="en-ZA" dirty="0" err="1"/>
              <a:t>módulos</a:t>
            </a:r>
            <a:r>
              <a:rPr lang="en-ZA" dirty="0"/>
              <a:t> DIMM </a:t>
            </a:r>
            <a:r>
              <a:rPr lang="en-ZA" dirty="0" err="1" smtClean="0"/>
              <a:t>possuem</a:t>
            </a:r>
            <a:r>
              <a:rPr lang="en-ZA" dirty="0"/>
              <a:t> </a:t>
            </a:r>
            <a:r>
              <a:rPr lang="pt-BR" dirty="0" smtClean="0"/>
              <a:t>terminais </a:t>
            </a:r>
            <a:r>
              <a:rPr lang="pt-BR" dirty="0"/>
              <a:t>de contatos em ambos os lados do módulo e transmitem </a:t>
            </a:r>
            <a:r>
              <a:rPr lang="pt-BR" dirty="0" smtClean="0"/>
              <a:t>64 </a:t>
            </a:r>
            <a:r>
              <a:rPr lang="pt-BR" i="1" dirty="0" smtClean="0"/>
              <a:t>bits </a:t>
            </a:r>
            <a:r>
              <a:rPr lang="pt-BR" dirty="0"/>
              <a:t>por vez. A primeira versão tinha 168 pinos, em seguida, foram </a:t>
            </a:r>
            <a:r>
              <a:rPr lang="pt-BR" dirty="0" smtClean="0"/>
              <a:t>lançados módulos </a:t>
            </a:r>
            <a:r>
              <a:rPr lang="pt-BR" dirty="0"/>
              <a:t>de 184 vias, utilizados em memórias DDR e módulos </a:t>
            </a:r>
            <a:r>
              <a:rPr lang="pt-BR" dirty="0" smtClean="0"/>
              <a:t>de 240 </a:t>
            </a:r>
            <a:r>
              <a:rPr lang="pt-BR" dirty="0"/>
              <a:t>vias, utilizados em módulos DDR2 e DDR3.</a:t>
            </a:r>
          </a:p>
          <a:p>
            <a:r>
              <a:rPr lang="pt-BR" b="1" dirty="0"/>
              <a:t>d) SO-DIMM </a:t>
            </a:r>
            <a:r>
              <a:rPr lang="pt-BR" dirty="0"/>
              <a:t>(</a:t>
            </a:r>
            <a:r>
              <a:rPr lang="pt-BR" i="1" dirty="0"/>
              <a:t>Small Outline DIMM</a:t>
            </a:r>
            <a:r>
              <a:rPr lang="pt-BR" dirty="0"/>
              <a:t>) – é um padrão DIMM de tamanho </a:t>
            </a:r>
            <a:r>
              <a:rPr lang="pt-BR" dirty="0" smtClean="0"/>
              <a:t>reduzido que </a:t>
            </a:r>
            <a:r>
              <a:rPr lang="pt-BR" dirty="0"/>
              <a:t>são utilizados principalmente em </a:t>
            </a:r>
            <a:r>
              <a:rPr lang="pt-BR" dirty="0" smtClean="0"/>
              <a:t>computadores portáteis, </a:t>
            </a:r>
            <a:r>
              <a:rPr lang="en-ZA" dirty="0" err="1" smtClean="0"/>
              <a:t>como</a:t>
            </a:r>
            <a:r>
              <a:rPr lang="en-ZA" dirty="0" smtClean="0"/>
              <a:t> </a:t>
            </a:r>
            <a:r>
              <a:rPr lang="en-ZA" dirty="0" err="1"/>
              <a:t>os</a:t>
            </a:r>
            <a:r>
              <a:rPr lang="en-ZA" dirty="0"/>
              <a:t> </a:t>
            </a:r>
            <a:r>
              <a:rPr lang="en-ZA" i="1" dirty="0"/>
              <a:t>notebooks</a:t>
            </a:r>
            <a:r>
              <a:rPr lang="en-Z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6702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e) RIMM </a:t>
            </a:r>
            <a:r>
              <a:rPr lang="pt-BR" dirty="0"/>
              <a:t>(</a:t>
            </a:r>
            <a:r>
              <a:rPr lang="pt-BR" i="1" dirty="0"/>
              <a:t>Rambus Inline Memory Module</a:t>
            </a:r>
            <a:r>
              <a:rPr lang="pt-BR" dirty="0"/>
              <a:t>) – formado por 168 vias, esse </a:t>
            </a:r>
            <a:r>
              <a:rPr lang="pt-BR" dirty="0" smtClean="0"/>
              <a:t>módulo foi </a:t>
            </a:r>
            <a:r>
              <a:rPr lang="pt-BR" dirty="0"/>
              <a:t>utilizado pelas memórias Rambus, que atualmente estão em desuso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Existem módulos de memória com Código de Correção de Erro – ECC (</a:t>
            </a:r>
            <a:r>
              <a:rPr lang="pt-BR" i="1" dirty="0" smtClean="0"/>
              <a:t>Error Correcting </a:t>
            </a:r>
            <a:r>
              <a:rPr lang="pt-BR" i="1" dirty="0"/>
              <a:t>Code</a:t>
            </a:r>
            <a:r>
              <a:rPr lang="pt-BR" dirty="0"/>
              <a:t>) e paridade, que permitem detectar e corrigir alguns </a:t>
            </a:r>
            <a:r>
              <a:rPr lang="pt-BR" dirty="0" smtClean="0"/>
              <a:t>erros que </a:t>
            </a:r>
            <a:r>
              <a:rPr lang="pt-BR" dirty="0"/>
              <a:t>podem ocorrer nas operações de leitura e escrita. Esses módulos </a:t>
            </a:r>
            <a:r>
              <a:rPr lang="pt-BR" dirty="0" smtClean="0"/>
              <a:t>são normalmente </a:t>
            </a:r>
            <a:r>
              <a:rPr lang="pt-BR" dirty="0"/>
              <a:t>usados em servidores e aplicações críticas, pois são um </a:t>
            </a:r>
            <a:r>
              <a:rPr lang="pt-BR" dirty="0" smtClean="0"/>
              <a:t>pouco mais </a:t>
            </a:r>
            <a:r>
              <a:rPr lang="pt-BR" dirty="0"/>
              <a:t>lentas e com um custo bem mais elevado.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63757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4113"/>
            <a:ext cx="8712968" cy="6673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8281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ZA" b="1" dirty="0" err="1"/>
              <a:t>Canais</a:t>
            </a:r>
            <a:r>
              <a:rPr lang="en-ZA" b="1" dirty="0"/>
              <a:t> de </a:t>
            </a:r>
            <a:r>
              <a:rPr lang="en-ZA" b="1" dirty="0" err="1"/>
              <a:t>memória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Outra forma de aumentar o desempenho da memória é a utilização de </a:t>
            </a:r>
            <a:r>
              <a:rPr lang="pt-BR" dirty="0" smtClean="0"/>
              <a:t>canais adicionais </a:t>
            </a:r>
            <a:r>
              <a:rPr lang="pt-BR" dirty="0"/>
              <a:t>de conexão da memória com a CPU, usando-os </a:t>
            </a:r>
            <a:r>
              <a:rPr lang="pt-BR" dirty="0" smtClean="0"/>
              <a:t>simultaneamente:</a:t>
            </a:r>
          </a:p>
          <a:p>
            <a:r>
              <a:rPr lang="pt-BR" b="1" dirty="0"/>
              <a:t>a) Dois canais </a:t>
            </a:r>
            <a:r>
              <a:rPr lang="pt-BR" dirty="0"/>
              <a:t>(</a:t>
            </a:r>
            <a:r>
              <a:rPr lang="pt-BR" i="1" dirty="0"/>
              <a:t>dual channel</a:t>
            </a:r>
            <a:r>
              <a:rPr lang="pt-BR" dirty="0"/>
              <a:t>) – expande o barramento para 128 </a:t>
            </a:r>
            <a:r>
              <a:rPr lang="pt-BR" i="1" dirty="0"/>
              <a:t>bits</a:t>
            </a:r>
            <a:r>
              <a:rPr lang="pt-BR" dirty="0"/>
              <a:t>.</a:t>
            </a:r>
          </a:p>
          <a:p>
            <a:r>
              <a:rPr lang="pt-BR" b="1" dirty="0"/>
              <a:t>b) Três canais </a:t>
            </a:r>
            <a:r>
              <a:rPr lang="pt-BR" dirty="0"/>
              <a:t>(</a:t>
            </a:r>
            <a:r>
              <a:rPr lang="pt-BR" i="1" dirty="0"/>
              <a:t>triple channel</a:t>
            </a:r>
            <a:r>
              <a:rPr lang="pt-BR" dirty="0"/>
              <a:t>) – expande o barramento para 192 </a:t>
            </a:r>
            <a:r>
              <a:rPr lang="pt-BR" i="1" dirty="0"/>
              <a:t>bits</a:t>
            </a:r>
            <a:r>
              <a:rPr lang="pt-BR" dirty="0"/>
              <a:t>.</a:t>
            </a:r>
          </a:p>
          <a:p>
            <a:r>
              <a:rPr lang="pt-BR" b="1" dirty="0"/>
              <a:t>c) Quatro canais </a:t>
            </a:r>
            <a:r>
              <a:rPr lang="pt-BR" dirty="0"/>
              <a:t>(</a:t>
            </a:r>
            <a:r>
              <a:rPr lang="pt-BR" i="1" dirty="0"/>
              <a:t>quad channel</a:t>
            </a:r>
            <a:r>
              <a:rPr lang="pt-BR" dirty="0"/>
              <a:t>) – expande o barramento para 256 </a:t>
            </a:r>
            <a:r>
              <a:rPr lang="pt-BR" i="1" dirty="0"/>
              <a:t>bits</a:t>
            </a:r>
            <a:r>
              <a:rPr lang="pt-BR" dirty="0"/>
              <a:t>.</a:t>
            </a:r>
          </a:p>
          <a:p>
            <a:r>
              <a:rPr lang="pt-BR" i="1" dirty="0"/>
              <a:t>Para utilizar mais de um canal simultaneamente, os módulos de </a:t>
            </a:r>
            <a:r>
              <a:rPr lang="pt-BR" i="1" dirty="0" smtClean="0"/>
              <a:t>memória devem </a:t>
            </a:r>
            <a:r>
              <a:rPr lang="pt-BR" i="1" dirty="0"/>
              <a:t>ser iguais ou compatíveis em termos de tempo de acesso e latência.</a:t>
            </a:r>
            <a:endParaRPr lang="en-ZA" i="1" dirty="0"/>
          </a:p>
        </p:txBody>
      </p:sp>
    </p:spTree>
    <p:extLst>
      <p:ext uri="{BB962C8B-B14F-4D97-AF65-F5344CB8AC3E}">
        <p14:creationId xmlns:p14="http://schemas.microsoft.com/office/powerpoint/2010/main" val="565371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Temporização dos módulos de memória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memórias DDR, DDR2 e DDR3 </a:t>
            </a:r>
            <a:r>
              <a:rPr lang="pt-BR" dirty="0" smtClean="0"/>
              <a:t>são classificadas </a:t>
            </a:r>
            <a:r>
              <a:rPr lang="pt-BR" dirty="0"/>
              <a:t>de acordo com a </a:t>
            </a:r>
            <a:r>
              <a:rPr lang="pt-BR" dirty="0" smtClean="0"/>
              <a:t>frequência e </a:t>
            </a:r>
            <a:r>
              <a:rPr lang="pt-BR" dirty="0"/>
              <a:t>taxa de transferência máxima que conseguem operar, bem como </a:t>
            </a:r>
            <a:r>
              <a:rPr lang="pt-BR" dirty="0" smtClean="0"/>
              <a:t>suas </a:t>
            </a:r>
            <a:r>
              <a:rPr lang="en-ZA" dirty="0" err="1" smtClean="0"/>
              <a:t>temporizações</a:t>
            </a:r>
            <a:r>
              <a:rPr lang="en-ZA" dirty="0" smtClean="0"/>
              <a:t>.</a:t>
            </a:r>
          </a:p>
          <a:p>
            <a:r>
              <a:rPr lang="pt-BR" dirty="0"/>
              <a:t>Temporizações indicam a quantidade de pulsos de </a:t>
            </a:r>
            <a:r>
              <a:rPr lang="pt-BR" i="1" dirty="0"/>
              <a:t>clock </a:t>
            </a:r>
            <a:r>
              <a:rPr lang="pt-BR" dirty="0"/>
              <a:t>que a </a:t>
            </a:r>
            <a:r>
              <a:rPr lang="pt-BR" dirty="0" smtClean="0"/>
              <a:t>memória demora </a:t>
            </a:r>
            <a:r>
              <a:rPr lang="pt-BR" dirty="0"/>
              <a:t>para realizar em uma determinada operação.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89873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Nomenclatura dos módulos de memória</a:t>
            </a:r>
            <a:endParaRPr lang="en-Z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memórias DDR, DDR2 e DDR3 seguem a seguinte classificação: </a:t>
            </a:r>
            <a:r>
              <a:rPr lang="pt-BR" dirty="0" smtClean="0"/>
              <a:t>DDRx yyyy/PCx </a:t>
            </a:r>
            <a:r>
              <a:rPr lang="pt-BR" dirty="0"/>
              <a:t>zzzz. O primeiro número (x) indica se a memória é DDR (</a:t>
            </a:r>
            <a:r>
              <a:rPr lang="pt-BR" dirty="0" smtClean="0"/>
              <a:t>ausência de </a:t>
            </a:r>
            <a:r>
              <a:rPr lang="pt-BR" dirty="0"/>
              <a:t>qualquer número), DDR2 (x=2) ou DDR3 (x=3); o segundo número (</a:t>
            </a:r>
            <a:r>
              <a:rPr lang="pt-BR" dirty="0" smtClean="0"/>
              <a:t>yyyy) indica </a:t>
            </a:r>
            <a:r>
              <a:rPr lang="pt-BR" dirty="0"/>
              <a:t>o </a:t>
            </a:r>
            <a:r>
              <a:rPr lang="pt-BR" i="1" dirty="0"/>
              <a:t>clock </a:t>
            </a:r>
            <a:r>
              <a:rPr lang="pt-BR" dirty="0"/>
              <a:t>máximo que o módulo de memória suporta; o terceiro </a:t>
            </a:r>
            <a:r>
              <a:rPr lang="pt-BR" dirty="0" smtClean="0"/>
              <a:t>número (zzzz</a:t>
            </a:r>
            <a:r>
              <a:rPr lang="pt-BR" dirty="0"/>
              <a:t>) indica a taxa de transferência máxima da memória, medida em MB/s.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23641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Por exemplo, um módulo de memória com a especificação DDR3 1600 </a:t>
            </a:r>
            <a:r>
              <a:rPr lang="pt-BR" dirty="0" smtClean="0"/>
              <a:t>PC3-12800</a:t>
            </a:r>
            <a:r>
              <a:rPr lang="pt-BR" dirty="0"/>
              <a:t>, significa que é uma memória DDR3 e pode operar nominalmente </a:t>
            </a:r>
            <a:r>
              <a:rPr lang="pt-BR" dirty="0" smtClean="0"/>
              <a:t>a 1600 </a:t>
            </a:r>
            <a:r>
              <a:rPr lang="pt-BR" dirty="0"/>
              <a:t>MHz, transferindo até 12800 MB/s. A frequência do módulo de </a:t>
            </a:r>
            <a:r>
              <a:rPr lang="pt-BR" dirty="0" smtClean="0"/>
              <a:t>memória é </a:t>
            </a:r>
            <a:r>
              <a:rPr lang="pt-BR" dirty="0"/>
              <a:t>1600 MHz, porém cada um dos </a:t>
            </a:r>
            <a:r>
              <a:rPr lang="pt-BR" i="1" dirty="0"/>
              <a:t>chips </a:t>
            </a:r>
            <a:r>
              <a:rPr lang="pt-BR" dirty="0"/>
              <a:t>de memória do módulo </a:t>
            </a:r>
            <a:r>
              <a:rPr lang="pt-BR" dirty="0" smtClean="0"/>
              <a:t>trabalham internamente </a:t>
            </a:r>
            <a:r>
              <a:rPr lang="pt-BR" dirty="0"/>
              <a:t>a 200 MHz, neste caso</a:t>
            </a:r>
            <a:r>
              <a:rPr lang="pt-BR" dirty="0" smtClean="0"/>
              <a:t>.</a:t>
            </a:r>
          </a:p>
          <a:p>
            <a:r>
              <a:rPr lang="pt-BR" dirty="0"/>
              <a:t>Deve ser observada também a temporização e a tensão de alimentação </a:t>
            </a:r>
            <a:r>
              <a:rPr lang="pt-BR" dirty="0" smtClean="0"/>
              <a:t>dos módulos </a:t>
            </a:r>
            <a:r>
              <a:rPr lang="pt-BR" dirty="0"/>
              <a:t>de memória. Por padrão, as memórias DDR operam a 2,5 volts, </a:t>
            </a:r>
            <a:r>
              <a:rPr lang="pt-BR" dirty="0" smtClean="0"/>
              <a:t>a DDR2 </a:t>
            </a:r>
            <a:r>
              <a:rPr lang="pt-BR" dirty="0"/>
              <a:t>a 1,8 volts e as memórias DDR3 a 1,5 volts.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99517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 err="1"/>
              <a:t>Atividades</a:t>
            </a:r>
            <a:r>
              <a:rPr lang="en-ZA" b="1" dirty="0"/>
              <a:t> de </a:t>
            </a:r>
            <a:r>
              <a:rPr lang="en-ZA" b="1" dirty="0" err="1" smtClean="0"/>
              <a:t>aprendizagem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1</a:t>
            </a:r>
            <a:r>
              <a:rPr lang="pt-BR" b="1" dirty="0"/>
              <a:t>. </a:t>
            </a:r>
            <a:r>
              <a:rPr lang="pt-BR" dirty="0"/>
              <a:t>O que diferencia um tipo de memória de outro?</a:t>
            </a:r>
          </a:p>
          <a:p>
            <a:r>
              <a:rPr lang="pt-BR" b="1" dirty="0"/>
              <a:t>2. </a:t>
            </a:r>
            <a:r>
              <a:rPr lang="pt-BR" dirty="0"/>
              <a:t>Por que a memória </a:t>
            </a:r>
            <a:r>
              <a:rPr lang="pt-BR" i="1" dirty="0"/>
              <a:t>cache </a:t>
            </a:r>
            <a:r>
              <a:rPr lang="pt-BR" dirty="0"/>
              <a:t>é </a:t>
            </a:r>
            <a:r>
              <a:rPr lang="pt-BR" dirty="0" smtClean="0"/>
              <a:t>importante?</a:t>
            </a:r>
          </a:p>
        </p:txBody>
      </p:sp>
    </p:spTree>
    <p:extLst>
      <p:ext uri="{BB962C8B-B14F-4D97-AF65-F5344CB8AC3E}">
        <p14:creationId xmlns:p14="http://schemas.microsoft.com/office/powerpoint/2010/main" val="1575225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766838"/>
            <a:ext cx="7272808" cy="5688632"/>
          </a:xfrm>
        </p:spPr>
      </p:pic>
    </p:spTree>
    <p:extLst>
      <p:ext uri="{BB962C8B-B14F-4D97-AF65-F5344CB8AC3E}">
        <p14:creationId xmlns:p14="http://schemas.microsoft.com/office/powerpoint/2010/main" val="2875890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2163</TotalTime>
  <Words>2512</Words>
  <Application>Microsoft Office PowerPoint</Application>
  <PresentationFormat>On-screen Show (4:3)</PresentationFormat>
  <Paragraphs>83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Memória</vt:lpstr>
      <vt:lpstr>Memória</vt:lpstr>
      <vt:lpstr>PowerPoint Presentation</vt:lpstr>
      <vt:lpstr>Tipos de memória</vt:lpstr>
      <vt:lpstr>PowerPoint Presentation</vt:lpstr>
      <vt:lpstr>PowerPoint Presentation</vt:lpstr>
      <vt:lpstr>PowerPoint Presentation</vt:lpstr>
      <vt:lpstr>O que é memória ROM</vt:lpstr>
      <vt:lpstr>Memória ROM</vt:lpstr>
      <vt:lpstr>PowerPoint Presentation</vt:lpstr>
      <vt:lpstr>PowerPoint Presentation</vt:lpstr>
      <vt:lpstr>PowerPoint Presentation</vt:lpstr>
      <vt:lpstr>PowerPoint Presentation</vt:lpstr>
      <vt:lpstr>Memória RAM</vt:lpstr>
      <vt:lpstr>Tipos de memória RAM</vt:lpstr>
      <vt:lpstr>Tipos de memória DRAM</vt:lpstr>
      <vt:lpstr>PowerPoint Presentation</vt:lpstr>
      <vt:lpstr>PowerPoint Presentation</vt:lpstr>
      <vt:lpstr>PowerPoint Presentation</vt:lpstr>
      <vt:lpstr>Encapsulamentos de memória</vt:lpstr>
      <vt:lpstr>PowerPoint Presentation</vt:lpstr>
      <vt:lpstr>Principais tipos de encapsulamento</vt:lpstr>
      <vt:lpstr>Módulos de memória</vt:lpstr>
      <vt:lpstr>Principais módulos</vt:lpstr>
      <vt:lpstr>PowerPoint Presentation</vt:lpstr>
      <vt:lpstr>PowerPoint Presentation</vt:lpstr>
      <vt:lpstr>PowerPoint Presentation</vt:lpstr>
      <vt:lpstr>Canais de memória</vt:lpstr>
      <vt:lpstr>Temporização dos módulos de memória</vt:lpstr>
      <vt:lpstr>Nomenclatura dos módulos de memória</vt:lpstr>
      <vt:lpstr>PowerPoint Presentation</vt:lpstr>
      <vt:lpstr>Atividades de aprendizagem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Evolução da arquitetura de computadores</dc:title>
  <dc:creator>USER</dc:creator>
  <cp:lastModifiedBy>USER</cp:lastModifiedBy>
  <cp:revision>55</cp:revision>
  <dcterms:created xsi:type="dcterms:W3CDTF">2016-07-14T11:44:37Z</dcterms:created>
  <dcterms:modified xsi:type="dcterms:W3CDTF">2016-09-14T00:23:34Z</dcterms:modified>
</cp:coreProperties>
</file>